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43" r:id="rId60"/>
    <p:sldId id="344"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67"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3304DD98-A328-4875-8C51-A3BCBD13775F}"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91047C60-2AB1-4E9F-9764-93ECCBCCAD62}"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8" name="PlaceHolder 2"/>
          <p:cNvSpPr>
            <a:spLocks noGrp="1"/>
          </p:cNvSpPr>
          <p:nvPr>
            <p:ph/>
          </p:nvPr>
        </p:nvSpPr>
        <p:spPr>
          <a:xfrm>
            <a:off x="504000" y="1326600"/>
            <a:ext cx="9071640" cy="3288240"/>
          </a:xfrm>
          <a:prstGeom prst="rect">
            <a:avLst/>
          </a:prstGeom>
          <a:noFill/>
          <a:ln w="0">
            <a:noFill/>
          </a:ln>
        </p:spPr>
        <p:txBody>
          <a:bodyPr lIns="0" tIns="0" rIns="0" bIns="0" anchor="t">
            <a:normAutofit/>
          </a:bodyPr>
          <a:lstStyle/>
          <a:p>
            <a:endParaRPr lang="en-GB"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003BDD71-5FB5-4AB0-8738-AB98FEA5B04C}"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10" name="PlaceHolder 2"/>
          <p:cNvSpPr>
            <a:spLocks noGrp="1"/>
          </p:cNvSpPr>
          <p:nvPr>
            <p:ph/>
          </p:nvPr>
        </p:nvSpPr>
        <p:spPr>
          <a:xfrm>
            <a:off x="504000" y="1326600"/>
            <a:ext cx="4426920" cy="3288240"/>
          </a:xfrm>
          <a:prstGeom prst="rect">
            <a:avLst/>
          </a:prstGeom>
          <a:noFill/>
          <a:ln w="0">
            <a:noFill/>
          </a:ln>
        </p:spPr>
        <p:txBody>
          <a:bodyPr lIns="0" tIns="0" rIns="0" bIns="0" anchor="t">
            <a:normAutofit/>
          </a:bodyPr>
          <a:lstStyle/>
          <a:p>
            <a:endParaRPr lang="en-GB" sz="3200" b="0" strike="noStrike" spc="-1">
              <a:latin typeface="Arial"/>
            </a:endParaRPr>
          </a:p>
        </p:txBody>
      </p:sp>
      <p:sp>
        <p:nvSpPr>
          <p:cNvPr id="11" name="PlaceHolder 3"/>
          <p:cNvSpPr>
            <a:spLocks noGrp="1"/>
          </p:cNvSpPr>
          <p:nvPr>
            <p:ph/>
          </p:nvPr>
        </p:nvSpPr>
        <p:spPr>
          <a:xfrm>
            <a:off x="5152680" y="1326600"/>
            <a:ext cx="4426920" cy="3288240"/>
          </a:xfrm>
          <a:prstGeom prst="rect">
            <a:avLst/>
          </a:prstGeom>
          <a:noFill/>
          <a:ln w="0">
            <a:noFill/>
          </a:ln>
        </p:spPr>
        <p:txBody>
          <a:bodyPr lIns="0" tIns="0" rIns="0" bIns="0" anchor="t">
            <a:normAutofit/>
          </a:bodyPr>
          <a:lstStyle/>
          <a:p>
            <a:endParaRPr lang="en-GB" sz="3200" b="0" strike="noStrike" spc="-1">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538C9604-C113-4003-B304-0D7E00DCDC99}"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1E4E2013-D49A-407E-8B3C-6E7142D25F76}"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37B82FFC-71A6-47C8-B650-A0B863ED607A}"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15" name="PlaceHolder 2"/>
          <p:cNvSpPr>
            <a:spLocks noGrp="1"/>
          </p:cNvSpPr>
          <p:nvPr>
            <p:ph/>
          </p:nvPr>
        </p:nvSpPr>
        <p:spPr>
          <a:xfrm>
            <a:off x="504000" y="132660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16" name="PlaceHolder 3"/>
          <p:cNvSpPr>
            <a:spLocks noGrp="1"/>
          </p:cNvSpPr>
          <p:nvPr>
            <p:ph/>
          </p:nvPr>
        </p:nvSpPr>
        <p:spPr>
          <a:xfrm>
            <a:off x="5152680" y="1326600"/>
            <a:ext cx="4426920" cy="3288240"/>
          </a:xfrm>
          <a:prstGeom prst="rect">
            <a:avLst/>
          </a:prstGeom>
          <a:noFill/>
          <a:ln w="0">
            <a:noFill/>
          </a:ln>
        </p:spPr>
        <p:txBody>
          <a:bodyPr lIns="0" tIns="0" rIns="0" bIns="0" anchor="t">
            <a:normAutofit/>
          </a:bodyPr>
          <a:lstStyle/>
          <a:p>
            <a:endParaRPr lang="en-GB" sz="3200" b="0" strike="noStrike" spc="-1">
              <a:latin typeface="Arial"/>
            </a:endParaRPr>
          </a:p>
        </p:txBody>
      </p:sp>
      <p:sp>
        <p:nvSpPr>
          <p:cNvPr id="17" name="PlaceHolder 4"/>
          <p:cNvSpPr>
            <a:spLocks noGrp="1"/>
          </p:cNvSpPr>
          <p:nvPr>
            <p:ph/>
          </p:nvPr>
        </p:nvSpPr>
        <p:spPr>
          <a:xfrm>
            <a:off x="504000" y="304416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CEC2C48-4021-4DF2-85D6-6D34BFE9BF55}"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19" name="PlaceHolder 2"/>
          <p:cNvSpPr>
            <a:spLocks noGrp="1"/>
          </p:cNvSpPr>
          <p:nvPr>
            <p:ph/>
          </p:nvPr>
        </p:nvSpPr>
        <p:spPr>
          <a:xfrm>
            <a:off x="504000" y="1326600"/>
            <a:ext cx="4426920" cy="3288240"/>
          </a:xfrm>
          <a:prstGeom prst="rect">
            <a:avLst/>
          </a:prstGeom>
          <a:noFill/>
          <a:ln w="0">
            <a:noFill/>
          </a:ln>
        </p:spPr>
        <p:txBody>
          <a:bodyPr lIns="0" tIns="0" rIns="0" bIns="0" anchor="t">
            <a:normAutofit/>
          </a:bodyPr>
          <a:lstStyle/>
          <a:p>
            <a:endParaRPr lang="en-GB" sz="3200" b="0" strike="noStrike" spc="-1">
              <a:latin typeface="Arial"/>
            </a:endParaRPr>
          </a:p>
        </p:txBody>
      </p:sp>
      <p:sp>
        <p:nvSpPr>
          <p:cNvPr id="20" name="PlaceHolder 3"/>
          <p:cNvSpPr>
            <a:spLocks noGrp="1"/>
          </p:cNvSpPr>
          <p:nvPr>
            <p:ph/>
          </p:nvPr>
        </p:nvSpPr>
        <p:spPr>
          <a:xfrm>
            <a:off x="5152680" y="132660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21" name="PlaceHolder 4"/>
          <p:cNvSpPr>
            <a:spLocks noGrp="1"/>
          </p:cNvSpPr>
          <p:nvPr>
            <p:ph/>
          </p:nvPr>
        </p:nvSpPr>
        <p:spPr>
          <a:xfrm>
            <a:off x="5152680" y="304416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87D42B20-4938-4C52-8CE3-9C3C9EF691A3}"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23" name="PlaceHolder 2"/>
          <p:cNvSpPr>
            <a:spLocks noGrp="1"/>
          </p:cNvSpPr>
          <p:nvPr>
            <p:ph/>
          </p:nvPr>
        </p:nvSpPr>
        <p:spPr>
          <a:xfrm>
            <a:off x="504000" y="132660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24" name="PlaceHolder 3"/>
          <p:cNvSpPr>
            <a:spLocks noGrp="1"/>
          </p:cNvSpPr>
          <p:nvPr>
            <p:ph/>
          </p:nvPr>
        </p:nvSpPr>
        <p:spPr>
          <a:xfrm>
            <a:off x="5152680" y="132660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25" name="PlaceHolder 4"/>
          <p:cNvSpPr>
            <a:spLocks noGrp="1"/>
          </p:cNvSpPr>
          <p:nvPr>
            <p:ph/>
          </p:nvPr>
        </p:nvSpPr>
        <p:spPr>
          <a:xfrm>
            <a:off x="504000" y="3044160"/>
            <a:ext cx="907164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68F3F56F-9CAC-4626-A06B-7806FEF09524}"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27" name="PlaceHolder 2"/>
          <p:cNvSpPr>
            <a:spLocks noGrp="1"/>
          </p:cNvSpPr>
          <p:nvPr>
            <p:ph/>
          </p:nvPr>
        </p:nvSpPr>
        <p:spPr>
          <a:xfrm>
            <a:off x="504000" y="1326600"/>
            <a:ext cx="907164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28" name="PlaceHolder 3"/>
          <p:cNvSpPr>
            <a:spLocks noGrp="1"/>
          </p:cNvSpPr>
          <p:nvPr>
            <p:ph/>
          </p:nvPr>
        </p:nvSpPr>
        <p:spPr>
          <a:xfrm>
            <a:off x="504000" y="3044160"/>
            <a:ext cx="907164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C9352898-2A85-4174-BE88-73ACB54E1566}"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30" name="PlaceHolder 2"/>
          <p:cNvSpPr>
            <a:spLocks noGrp="1"/>
          </p:cNvSpPr>
          <p:nvPr>
            <p:ph/>
          </p:nvPr>
        </p:nvSpPr>
        <p:spPr>
          <a:xfrm>
            <a:off x="504000" y="132660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31" name="PlaceHolder 3"/>
          <p:cNvSpPr>
            <a:spLocks noGrp="1"/>
          </p:cNvSpPr>
          <p:nvPr>
            <p:ph/>
          </p:nvPr>
        </p:nvSpPr>
        <p:spPr>
          <a:xfrm>
            <a:off x="5152680" y="132660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32" name="PlaceHolder 4"/>
          <p:cNvSpPr>
            <a:spLocks noGrp="1"/>
          </p:cNvSpPr>
          <p:nvPr>
            <p:ph/>
          </p:nvPr>
        </p:nvSpPr>
        <p:spPr>
          <a:xfrm>
            <a:off x="504000" y="304416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33" name="PlaceHolder 5"/>
          <p:cNvSpPr>
            <a:spLocks noGrp="1"/>
          </p:cNvSpPr>
          <p:nvPr>
            <p:ph/>
          </p:nvPr>
        </p:nvSpPr>
        <p:spPr>
          <a:xfrm>
            <a:off x="5152680" y="3044160"/>
            <a:ext cx="442692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D26869E3-6F76-49F8-97B6-898EB5D89001}"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tIns="0" rIns="0" bIns="0" anchor="t">
            <a:normAutofit/>
          </a:bodyPr>
          <a:lstStyle/>
          <a:p>
            <a:endParaRPr lang="en-GB" sz="3200" b="0" strike="noStrike" spc="-1">
              <a:latin typeface="Arial"/>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7CFCF626-7D0E-4053-BB30-CD8290506699}"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Click to edit the title text format</a:t>
            </a:r>
          </a:p>
        </p:txBody>
      </p:sp>
      <p:sp>
        <p:nvSpPr>
          <p:cNvPr id="6"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GB"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GB" sz="2800" b="0" strike="noStrike" spc="-1">
                <a:latin typeface="Arial"/>
              </a:rPr>
              <a:t>Second Outline Level</a:t>
            </a:r>
          </a:p>
          <a:p>
            <a:pPr marL="1296000" lvl="2" indent="-288000">
              <a:spcBef>
                <a:spcPts val="850"/>
              </a:spcBef>
              <a:buClr>
                <a:srgbClr val="000000"/>
              </a:buClr>
              <a:buSzPct val="45000"/>
              <a:buFont typeface="Wingdings" charset="2"/>
              <a:buChar char=""/>
            </a:pPr>
            <a:r>
              <a:rPr lang="en-GB" sz="2400" b="0" strike="noStrike" spc="-1">
                <a:latin typeface="Arial"/>
              </a:rPr>
              <a:t>Third Outline Level</a:t>
            </a:r>
          </a:p>
          <a:p>
            <a:pPr marL="1728000" lvl="3" indent="-216000">
              <a:spcBef>
                <a:spcPts val="567"/>
              </a:spcBef>
              <a:buClr>
                <a:srgbClr val="000000"/>
              </a:buClr>
              <a:buSzPct val="75000"/>
              <a:buFont typeface="Symbol" charset="2"/>
              <a:buChar char=""/>
            </a:pPr>
            <a:r>
              <a:rPr lang="en-GB" sz="2000" b="0" strike="noStrike" spc="-1">
                <a:latin typeface="Arial"/>
              </a:rPr>
              <a:t>Fourth Outline Level</a:t>
            </a:r>
          </a:p>
          <a:p>
            <a:pPr marL="2160000" lvl="4" indent="-216000">
              <a:spcBef>
                <a:spcPts val="283"/>
              </a:spcBef>
              <a:buClr>
                <a:srgbClr val="000000"/>
              </a:buClr>
              <a:buSzPct val="45000"/>
              <a:buFont typeface="Wingdings" charset="2"/>
              <a:buChar char=""/>
            </a:pPr>
            <a:r>
              <a:rPr lang="en-GB" sz="2000" b="0" strike="noStrike" spc="-1">
                <a:latin typeface="Arial"/>
              </a:rPr>
              <a:t>Fifth Outline Level</a:t>
            </a:r>
          </a:p>
          <a:p>
            <a:pPr marL="2592000" lvl="5" indent="-216000">
              <a:spcBef>
                <a:spcPts val="283"/>
              </a:spcBef>
              <a:buClr>
                <a:srgbClr val="000000"/>
              </a:buClr>
              <a:buSzPct val="45000"/>
              <a:buFont typeface="Wingdings" charset="2"/>
              <a:buChar char=""/>
            </a:pPr>
            <a:r>
              <a:rPr lang="en-GB" sz="2000" b="0" strike="noStrike" spc="-1">
                <a:latin typeface="Arial"/>
              </a:rPr>
              <a:t>Sixth Outline Level</a:t>
            </a:r>
          </a:p>
          <a:p>
            <a:pPr marL="3024000" lvl="6" indent="-216000">
              <a:spcBef>
                <a:spcPts val="283"/>
              </a:spcBef>
              <a:buClr>
                <a:srgbClr val="000000"/>
              </a:buClr>
              <a:buSzPct val="45000"/>
              <a:buFont typeface="Wingdings" charset="2"/>
              <a:buChar char=""/>
            </a:pPr>
            <a:r>
              <a:rPr lang="en-GB" sz="2000" b="0" strike="noStrike" spc="-1">
                <a:latin typeface="Arial"/>
              </a:rPr>
              <a:t>Seventh Outline Level</a:t>
            </a: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a:defRPr lang="en-GB" sz="1400" b="0" strike="noStrike" spc="-1">
                <a:latin typeface="Times New Roman"/>
              </a:defRPr>
            </a:lvl1pPr>
          </a:lstStyle>
          <a:p>
            <a:r>
              <a:rPr lang="en-GB" sz="1400" b="0" strike="noStrike" spc="-1">
                <a:latin typeface="Times New Roman"/>
              </a:rPr>
              <a:t>&lt;date/time&gt;</a:t>
            </a: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algn="ctr">
              <a:buNone/>
              <a:defRPr lang="en-GB" sz="1400" b="0" strike="noStrike" spc="-1">
                <a:latin typeface="Times New Roman"/>
              </a:defRPr>
            </a:lvl1pPr>
          </a:lstStyle>
          <a:p>
            <a:pPr algn="ctr">
              <a:buNone/>
            </a:pPr>
            <a:r>
              <a:rPr lang="en-GB" sz="1400" b="0" strike="noStrike" spc="-1">
                <a:latin typeface="Times New Roman"/>
              </a:rPr>
              <a:t>&lt;footer&gt;</a:t>
            </a: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algn="r">
              <a:buNone/>
              <a:defRPr lang="en-GB" sz="1400" b="0" strike="noStrike" spc="-1">
                <a:latin typeface="Times New Roman"/>
              </a:defRPr>
            </a:lvl1pPr>
          </a:lstStyle>
          <a:p>
            <a:pPr algn="r">
              <a:buNone/>
            </a:pPr>
            <a:fld id="{65D794EB-C8C2-4F81-A028-62CECE63A5CF}" type="slidenum">
              <a:rPr lang="en-GB" sz="1400" b="0" strike="noStrike" spc="-1">
                <a:latin typeface="Times New Roman"/>
              </a:rPr>
              <a:t>‹#›</a:t>
            </a:fld>
            <a:endParaRPr lang="en-GB"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hyperlink" Target="https://docs.convex.dev/%22%20/t%20%22_blank" TargetMode="External"/><Relationship Id="rId2" Type="http://schemas.openxmlformats.org/officeDocument/2006/relationships/hyperlink" Target="https://doi.org/10.1177/0047239519836345%22%20/t%20%22_blank" TargetMode="Externa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hyperlink" Target="https://doi.org/10.1080/07421222.2003.11045748%22%20/t%20%22_blank" TargetMode="External"/><Relationship Id="rId2" Type="http://schemas.openxmlformats.org/officeDocument/2006/relationships/hyperlink" Target="https://doi.org/10.2307/249008%22%20/t%20%22_blank"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600" b="0" strike="noStrike" spc="-1">
                <a:solidFill>
                  <a:srgbClr val="000000"/>
                </a:solidFill>
                <a:latin typeface="Times New Roman"/>
                <a:ea typeface="PingFang SC"/>
              </a:rPr>
              <a:t>BIOMETRIC CLASS ATTENDANCE AND TRACKING SYSTEM (BCATS)</a:t>
            </a:r>
            <a:endParaRPr lang="en-GB" sz="1600" b="0" strike="noStrike" spc="-1">
              <a:solidFill>
                <a:srgbClr val="000000"/>
              </a:solidFill>
              <a:latin typeface="Times New Roman"/>
            </a:endParaRPr>
          </a:p>
        </p:txBody>
      </p:sp>
      <p:sp>
        <p:nvSpPr>
          <p:cNvPr id="42"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1200" b="0" strike="noStrike" spc="-1">
                <a:solidFill>
                  <a:srgbClr val="000000"/>
                </a:solidFill>
                <a:latin typeface="Times New Roman"/>
                <a:ea typeface="Songti SC"/>
              </a:rPr>
              <a:t>By</a:t>
            </a:r>
            <a:br>
              <a:rPr sz="1200"/>
            </a:br>
            <a:r>
              <a:rPr lang="en-GB" sz="1200" b="0" strike="noStrike" spc="-1">
                <a:solidFill>
                  <a:srgbClr val="000000"/>
                </a:solidFill>
                <a:latin typeface="Times New Roman"/>
                <a:ea typeface="Songti SC"/>
              </a:rPr>
              <a:t>KIBALAMA PAUL 22/BIT/BU/R/0005</a:t>
            </a:r>
            <a:br>
              <a:rPr sz="1200"/>
            </a:br>
            <a:r>
              <a:rPr lang="en-GB" sz="1200" b="0" strike="noStrike" spc="-1">
                <a:solidFill>
                  <a:srgbClr val="000000"/>
                </a:solidFill>
                <a:latin typeface="Times New Roman"/>
                <a:ea typeface="Songti SC"/>
              </a:rPr>
              <a:t>AKATWIJUKA ELIA 22/BSE/BU/R/0020</a:t>
            </a:r>
            <a:endParaRPr lang="en-GB" sz="12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2000" b="1" strike="noStrike" spc="-1">
                <a:latin typeface="Times New Roman"/>
                <a:ea typeface="Songti SC"/>
              </a:rPr>
              <a:t>A Project Report Submitted in Partial Fulfilment of the Requirements for the Award of the </a:t>
            </a:r>
            <a:endParaRPr lang="en-GB" sz="2000" b="0" strike="noStrike" spc="-1">
              <a:latin typeface="Arial"/>
            </a:endParaRPr>
          </a:p>
          <a:p>
            <a:pPr algn="ctr">
              <a:buNone/>
            </a:pPr>
            <a:r>
              <a:rPr lang="en-GB" sz="2000" b="1" strike="noStrike" spc="-1">
                <a:latin typeface="Times New Roman"/>
                <a:ea typeface="Songti SC"/>
              </a:rPr>
              <a:t> Bachelor’s Degree in Information Technology and Bachelor’s Degree of Software Engineering respectively</a:t>
            </a:r>
            <a:endParaRPr lang="en-GB" sz="20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laceHolder 1"/>
          <p:cNvSpPr>
            <a:spLocks noGrp="1"/>
          </p:cNvSpPr>
          <p:nvPr>
            <p:ph type="subTitle"/>
          </p:nvPr>
        </p:nvSpPr>
        <p:spPr>
          <a:xfrm>
            <a:off x="720000" y="473400"/>
            <a:ext cx="8460000" cy="5013720"/>
          </a:xfrm>
          <a:prstGeom prst="rect">
            <a:avLst/>
          </a:prstGeom>
          <a:noFill/>
          <a:ln w="0">
            <a:noFill/>
          </a:ln>
        </p:spPr>
        <p:txBody>
          <a:bodyPr lIns="0" tIns="0" rIns="0" bIns="0" anchor="ctr">
            <a:noAutofit/>
          </a:bodyPr>
          <a:lstStyle/>
          <a:p>
            <a:pPr algn="ctr">
              <a:buNone/>
            </a:pPr>
            <a:r>
              <a:rPr lang="en-GB" sz="3200" b="0" strike="noStrike" spc="-1">
                <a:latin typeface="Arial"/>
              </a:rPr>
              <a:t>DECLARATION</a:t>
            </a:r>
          </a:p>
          <a:p>
            <a:pPr algn="ctr">
              <a:buNone/>
            </a:pPr>
            <a:r>
              <a:rPr lang="en-GB" sz="3200" b="0" strike="noStrike" spc="-1">
                <a:latin typeface="Arial"/>
              </a:rPr>
              <a:t>KIBALAMA PAUL AND AKATWIJUKA ELIA hereby declare that this project report, entitled "Biometric Class Attendance and Tracking System (BCATS)" is our own original work. It has been composed by us and has not been presented, in whole or in part, for the award of any other degree or qualification at this or any other university or institution. All sources of information have been specifically acknowledged by means of 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ACKNOWLEDGEMENTS</a:t>
            </a:r>
            <a:endParaRPr lang="en-GB" sz="1200" b="0" strike="noStrike" spc="-1">
              <a:latin typeface="Arial"/>
            </a:endParaRPr>
          </a:p>
        </p:txBody>
      </p:sp>
      <p:sp>
        <p:nvSpPr>
          <p:cNvPr id="46" name="PlaceHolder 2"/>
          <p:cNvSpPr>
            <a:spLocks noGrp="1"/>
          </p:cNvSpPr>
          <p:nvPr>
            <p:ph type="subTitle"/>
          </p:nvPr>
        </p:nvSpPr>
        <p:spPr>
          <a:xfrm>
            <a:off x="561240" y="-1980000"/>
            <a:ext cx="8957880" cy="9360000"/>
          </a:xfrm>
          <a:prstGeom prst="rect">
            <a:avLst/>
          </a:prstGeom>
          <a:noFill/>
          <a:ln w="0">
            <a:noFill/>
          </a:ln>
        </p:spPr>
        <p:txBody>
          <a:bodyPr lIns="0" tIns="0" rIns="0" bIns="0" anchor="ctr">
            <a:noAutofit/>
          </a:bodyPr>
          <a:lstStyle/>
          <a:p>
            <a:pPr algn="ctr">
              <a:buNone/>
            </a:pPr>
            <a:r>
              <a:rPr lang="en-GB" sz="1900" b="0" strike="noStrike" spc="-1">
                <a:latin typeface="Arial"/>
              </a:rPr>
              <a:t>I wish to express our sincere gratitude to our project supervisor, </a:t>
            </a:r>
          </a:p>
          <a:p>
            <a:pPr algn="ctr">
              <a:buNone/>
            </a:pPr>
            <a:r>
              <a:rPr lang="en-GB" sz="1900" b="0" strike="noStrike" spc="-1">
                <a:latin typeface="Arial"/>
              </a:rPr>
              <a:t>for their invaluable guidance, constructive criticism, </a:t>
            </a:r>
          </a:p>
          <a:p>
            <a:pPr algn="ctr">
              <a:buNone/>
            </a:pPr>
            <a:r>
              <a:rPr lang="en-GB" sz="1900" b="0" strike="noStrike" spc="-1">
                <a:latin typeface="Arial"/>
              </a:rPr>
              <a:t>and unwavering support throughout the research and development of this project.</a:t>
            </a:r>
          </a:p>
          <a:p>
            <a:pPr algn="ctr">
              <a:buNone/>
            </a:pPr>
            <a:r>
              <a:rPr lang="en-GB" sz="1900" b="0" strike="noStrike" spc="-1">
                <a:latin typeface="Arial"/>
              </a:rPr>
              <a:t>Our appreciation also goes to the lecturers and staff of the Department of Computing and Informatics</a:t>
            </a:r>
          </a:p>
          <a:p>
            <a:pPr algn="ctr">
              <a:buNone/>
            </a:pPr>
            <a:r>
              <a:rPr lang="en-GB" sz="1900" b="0" strike="noStrike" spc="-1">
                <a:latin typeface="Arial"/>
              </a:rPr>
              <a:t> for their knowledge and support. We are deeply thankful to our families and friends for their encouragement and patience.</a:t>
            </a:r>
          </a:p>
          <a:p>
            <a:pPr algn="ctr">
              <a:buNone/>
            </a:pPr>
            <a:r>
              <a:rPr lang="en-GB" sz="1900" b="0" strike="noStrike" spc="-1">
                <a:latin typeface="Arial"/>
              </a:rPr>
              <a:t>Finally, I acknowledge all the developers and researchers of the open-source libraries</a:t>
            </a:r>
          </a:p>
          <a:p>
            <a:pPr algn="ctr">
              <a:buNone/>
            </a:pPr>
            <a:r>
              <a:rPr lang="en-GB" sz="1900" b="0" strike="noStrike" spc="-1">
                <a:latin typeface="Arial"/>
              </a:rPr>
              <a:t> and technologies used in this project, whose work formed a critical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ABSTRACT</a:t>
            </a:r>
            <a:endParaRPr lang="en-GB" sz="1200" b="0" strike="noStrike" spc="-1">
              <a:latin typeface="Arial"/>
            </a:endParaRPr>
          </a:p>
        </p:txBody>
      </p:sp>
      <p:sp>
        <p:nvSpPr>
          <p:cNvPr id="48"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Times New Roman"/>
              </a:rPr>
              <a:t>This project presents the design and development of a Biometric Class Attendance And Tracking System (</a:t>
            </a:r>
            <a:r>
              <a:rPr lang="en-GB" sz="1300" b="0" strike="noStrike" spc="-1">
                <a:solidFill>
                  <a:srgbClr val="000000"/>
                </a:solidFill>
                <a:latin typeface="Times New Roman"/>
              </a:rPr>
              <a:t>BCATS</a:t>
            </a:r>
            <a:r>
              <a:rPr lang="en-GB" sz="3200" b="0" strike="noStrike" spc="-1">
                <a:latin typeface="Times New Roman"/>
              </a:rPr>
              <a:t>) for Bugema University. The system addresses the inefficiencies in traditional attendance tracking methods, including time consumption, manual errors, and proxy attendance. </a:t>
            </a:r>
            <a:endParaRPr lang="en-GB" sz="3200" b="0" strike="noStrike" spc="-1">
              <a:latin typeface="Arial"/>
            </a:endParaRPr>
          </a:p>
          <a:p>
            <a:pPr algn="ctr">
              <a:buNone/>
            </a:pPr>
            <a:endParaRPr lang="en-GB" sz="32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268560" y="2521440"/>
            <a:ext cx="9542520" cy="596880"/>
          </a:xfrm>
          <a:prstGeom prst="rect">
            <a:avLst/>
          </a:prstGeom>
          <a:noFill/>
          <a:ln w="0">
            <a:noFill/>
          </a:ln>
        </p:spPr>
        <p:txBody>
          <a:bodyPr lIns="90000" tIns="45000" rIns="90000" bIns="45000" anchor="t">
            <a:noAutofit/>
          </a:bodyPr>
          <a:lstStyle/>
          <a:p>
            <a:r>
              <a:rPr lang="en-GB" sz="1800" b="0" strike="noStrike" spc="-1">
                <a:latin typeface="Times New Roman"/>
              </a:rPr>
              <a:t>The proposed system integrates facial recognition technology with a web-based management portal to automate attendance tracking, enhance accuracy, and provide real-time monitoring capabilities.</a:t>
            </a:r>
            <a:endParaRPr lang="en-GB" sz="1800" b="0" strike="noStrike" spc="-1">
              <a:latin typeface="Arial"/>
            </a:endParaRPr>
          </a:p>
        </p:txBody>
      </p:sp>
      <p:sp>
        <p:nvSpPr>
          <p:cNvPr id="50"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52" name="PlaceHolder 2"/>
          <p:cNvSpPr>
            <a:spLocks noGrp="1"/>
          </p:cNvSpPr>
          <p:nvPr>
            <p:ph type="subTitle"/>
          </p:nvPr>
        </p:nvSpPr>
        <p:spPr>
          <a:xfrm>
            <a:off x="504000" y="1172520"/>
            <a:ext cx="9071640" cy="4227480"/>
          </a:xfrm>
          <a:prstGeom prst="rect">
            <a:avLst/>
          </a:prstGeom>
          <a:noFill/>
          <a:ln w="0">
            <a:noFill/>
          </a:ln>
        </p:spPr>
        <p:txBody>
          <a:bodyPr lIns="0" tIns="0" rIns="0" bIns="0" anchor="ctr">
            <a:noAutofit/>
          </a:bodyPr>
          <a:lstStyle/>
          <a:p>
            <a:pPr algn="ctr">
              <a:buNone/>
            </a:pPr>
            <a:r>
              <a:rPr lang="en-GB" sz="2000" b="0" strike="noStrike" spc="-1">
                <a:latin typeface="Times New Roman"/>
                <a:ea typeface="Songti SC"/>
              </a:rPr>
              <a:t>The system features three primary user roles: lecturers, students, and administrators. Lecturers can create and manage class sessions, enrol students, and generate attendance reports. Students register their biometric data during enrolment and subsequently use facial recognition for attendance marking. Administrators oversee system operations and generate institutional reports.</a:t>
            </a:r>
            <a:endParaRPr lang="en-GB" sz="20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54"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solidFill>
                  <a:srgbClr val="000000"/>
                </a:solidFill>
                <a:latin typeface="Times New Roman"/>
                <a:ea typeface="Songti SC"/>
              </a:rPr>
              <a:t>The development followed the Agile methodology, employing React.js for the frontend, Node.js for the backend, and Convex for database management. The system implements secure authentication using JWT tokens and encrypts biometric templates to ensure data privacy.</a:t>
            </a:r>
            <a:endParaRPr lang="en-GB" sz="20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5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latin typeface="Times New Roman"/>
                <a:ea typeface="Songti SC"/>
              </a:rPr>
              <a:t>Testing was conducted through unit testing, integration testing, system testing, and user acceptance testing, with all functional requirements successfully validated. The system demonstrates significant improvements in attendance tracking efficiency, reducing manual effort by approximately 70% and eliminating proxy attendance entirely.</a:t>
            </a:r>
            <a:endParaRPr lang="en-GB" sz="20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58"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latin typeface="Times New Roman"/>
                <a:ea typeface="Songti SC"/>
              </a:rPr>
              <a:t>The project contributes to digital transformation in educational institutions by providing a scalable, secure, and user-friendly attendance management solution. Recommendations include mobile application development, integration with existing university systems, and implementation of predictive analytics for attendance patterns.</a:t>
            </a:r>
            <a:endParaRPr lang="en-GB" sz="20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CHAPTER 1: INTRODUCTION</a:t>
            </a:r>
            <a:endParaRPr lang="en-GB" sz="1200" b="0" strike="noStrike" spc="-1">
              <a:latin typeface="Arial"/>
            </a:endParaRPr>
          </a:p>
        </p:txBody>
      </p:sp>
      <p:sp>
        <p:nvSpPr>
          <p:cNvPr id="60"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solidFill>
                  <a:srgbClr val="000000"/>
                </a:solidFill>
                <a:latin typeface="Times New Roman"/>
                <a:ea typeface="Songti SC"/>
              </a:rPr>
              <a:t>Attendance management is a critical administrative function in educational institutions, serving multiple purposes including academic monitoring, compliance with regulatory requirements, and assessment of student engagement.</a:t>
            </a:r>
            <a:endParaRPr lang="en-GB" sz="20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62"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solidFill>
                  <a:srgbClr val="000000"/>
                </a:solidFill>
                <a:latin typeface="Times New Roman"/>
                <a:ea typeface="Songti SC"/>
              </a:rPr>
              <a:t>Traditional attendance methods at Bugema University predominantly rely on manual processes, where class co-ordinators and lecturers circulate paper-based attendance sheets during lectures.</a:t>
            </a:r>
            <a:endParaRPr lang="en-GB" sz="20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64"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solidFill>
                  <a:srgbClr val="000000"/>
                </a:solidFill>
                <a:latin typeface="Times New Roman"/>
                <a:ea typeface="Songti SC"/>
              </a:rPr>
              <a:t>These methods present several challenges including time consumption, lack of dependable attendance lists and results, and students marked present in their absence.</a:t>
            </a:r>
            <a:endParaRPr lang="en-GB" sz="20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6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600" b="0" strike="noStrike" spc="-1">
                <a:latin typeface="Times New Roman"/>
                <a:ea typeface="Songti SC"/>
              </a:rPr>
              <a:t>The global shift toward digital transformation in education has prompted institutions to adopt technology-driven solutions for administrative processes. Biometric systems have emerged as reliable alternatives for identity verification, offering enhanced security and accuracy through unique physiological characteristics such as fingerprints, facial features, or iris patterns</a:t>
            </a:r>
            <a:endParaRPr lang="en-GB" sz="260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68"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700" b="0" strike="noStrike" spc="-1">
                <a:latin typeface="Times New Roman"/>
                <a:ea typeface="Songti SC"/>
              </a:rPr>
              <a:t>The integration of biometric technology with attendance management systems presents an opportunity to address the limitations of traditional methods while providing additional benefits such as real-time monitoring, automated reporting, and data analytics capabilities.</a:t>
            </a:r>
            <a:endParaRPr lang="en-GB" sz="27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70"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700" b="0" strike="noStrike" spc="-1">
                <a:latin typeface="Times New Roman"/>
                <a:ea typeface="Songti SC"/>
              </a:rPr>
              <a:t>Bugema University, as a growing institution with increasing student enrolment, requires a robust attendance management system that can scale with its expansion while maintaining accuracy and efficiency. The proposed Biometric Attendance Management System (BAMS) aligns with the university's strategic objectives of leveraging technology to enhance educational quality and administrative efficiency.</a:t>
            </a:r>
            <a:endParaRPr lang="en-GB" sz="27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72" name="PlaceHolder 2"/>
          <p:cNvSpPr>
            <a:spLocks noGrp="1"/>
          </p:cNvSpPr>
          <p:nvPr>
            <p:ph type="subTitle"/>
          </p:nvPr>
        </p:nvSpPr>
        <p:spPr>
          <a:xfrm>
            <a:off x="648360" y="360000"/>
            <a:ext cx="9071640" cy="5189400"/>
          </a:xfrm>
          <a:prstGeom prst="rect">
            <a:avLst/>
          </a:prstGeom>
          <a:noFill/>
          <a:ln w="0">
            <a:noFill/>
          </a:ln>
        </p:spPr>
        <p:txBody>
          <a:bodyPr lIns="0" tIns="0" rIns="0" bIns="0" anchor="ctr">
            <a:noAutofit/>
          </a:bodyPr>
          <a:lstStyle/>
          <a:p>
            <a:r>
              <a:rPr lang="en-GB" sz="2500" b="0" strike="noStrike" spc="-1">
                <a:latin typeface="Arial"/>
              </a:rPr>
              <a:t>1.2 Problem Statement</a:t>
            </a:r>
          </a:p>
          <a:p>
            <a:r>
              <a:rPr lang="en-GB" sz="2500" b="0" strike="noStrike" spc="-1">
                <a:latin typeface="Arial"/>
              </a:rPr>
              <a:t>The current attendance management practices at Bugema University suffer from several significant limitations:</a:t>
            </a:r>
          </a:p>
          <a:p>
            <a:r>
              <a:rPr lang="en-GB" sz="2500" b="1" strike="noStrike" spc="-1">
                <a:solidFill>
                  <a:srgbClr val="000000"/>
                </a:solidFill>
                <a:latin typeface="Times New Roman"/>
              </a:rPr>
              <a:t>Time Inefficiency</a:t>
            </a:r>
            <a:r>
              <a:rPr lang="en-GB" sz="2500" b="0" strike="noStrike" spc="-1">
                <a:solidFill>
                  <a:srgbClr val="000000"/>
                </a:solidFill>
                <a:latin typeface="Times New Roman"/>
              </a:rPr>
              <a:t>: Manual attendance taking consumes substantial instructional time, reducing effective teaching hours by approximately 10-15 minutes per session.</a:t>
            </a:r>
            <a:endParaRPr lang="en-GB" sz="2500" b="0" strike="noStrike" spc="-1">
              <a:latin typeface="Arial"/>
            </a:endParaRPr>
          </a:p>
          <a:p>
            <a:r>
              <a:rPr lang="en-GB" sz="2500" b="1" strike="noStrike" spc="-1">
                <a:solidFill>
                  <a:srgbClr val="000000"/>
                </a:solidFill>
                <a:latin typeface="Times New Roman"/>
              </a:rPr>
              <a:t>Accuracy Issues</a:t>
            </a:r>
            <a:r>
              <a:rPr lang="en-GB" sz="2500" b="0" strike="noStrike" spc="-1">
                <a:solidFill>
                  <a:srgbClr val="000000"/>
                </a:solidFill>
                <a:latin typeface="Times New Roman"/>
              </a:rPr>
              <a:t>: Manual processes are prone to human errors in recording, tallying, and transcribing attendance data.</a:t>
            </a:r>
            <a:endParaRPr lang="en-GB" sz="2500" b="0" strike="noStrike" spc="-1">
              <a:latin typeface="Arial"/>
            </a:endParaRPr>
          </a:p>
          <a:p>
            <a:r>
              <a:rPr lang="en-GB" sz="2500" b="1" strike="noStrike" spc="-1">
                <a:solidFill>
                  <a:srgbClr val="000000"/>
                </a:solidFill>
                <a:latin typeface="Times New Roman"/>
              </a:rPr>
              <a:t>Proxy Attendance</a:t>
            </a:r>
            <a:r>
              <a:rPr lang="en-GB" sz="2500" b="0" strike="noStrike" spc="-1">
                <a:solidFill>
                  <a:srgbClr val="000000"/>
                </a:solidFill>
                <a:latin typeface="Times New Roman"/>
              </a:rPr>
              <a:t>: The existing system cannot effectively prevent students from marking attendance on behalf of absent peers.</a:t>
            </a:r>
            <a:endParaRPr lang="en-GB" sz="25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74" name="PlaceHolder 2"/>
          <p:cNvSpPr>
            <a:spLocks noGrp="1"/>
          </p:cNvSpPr>
          <p:nvPr>
            <p:ph type="subTitle"/>
          </p:nvPr>
        </p:nvSpPr>
        <p:spPr>
          <a:xfrm>
            <a:off x="504000" y="1217520"/>
            <a:ext cx="9071640" cy="3506760"/>
          </a:xfrm>
          <a:prstGeom prst="rect">
            <a:avLst/>
          </a:prstGeom>
          <a:noFill/>
          <a:ln w="0">
            <a:noFill/>
          </a:ln>
        </p:spPr>
        <p:txBody>
          <a:bodyPr lIns="0" tIns="0" rIns="0" bIns="0" anchor="ctr">
            <a:noAutofit/>
          </a:bodyPr>
          <a:lstStyle/>
          <a:p>
            <a:pPr algn="ctr">
              <a:buNone/>
            </a:pPr>
            <a:r>
              <a:rPr lang="en-GB" sz="2500" b="1" strike="noStrike" spc="-1">
                <a:solidFill>
                  <a:srgbClr val="000000"/>
                </a:solidFill>
                <a:latin typeface="Times New Roman"/>
              </a:rPr>
              <a:t>Limited Real-time Monitoring</a:t>
            </a:r>
            <a:r>
              <a:rPr lang="en-GB" sz="2500" b="0" strike="noStrike" spc="-1">
                <a:solidFill>
                  <a:srgbClr val="000000"/>
                </a:solidFill>
                <a:latin typeface="Times New Roman"/>
              </a:rPr>
              <a:t>: Lecturers and class coordinators lack immediate access to attendance data for timely intervention.</a:t>
            </a:r>
            <a:endParaRPr lang="en-GB" sz="2500" b="0" strike="noStrike" spc="-1">
              <a:latin typeface="Arial"/>
            </a:endParaRPr>
          </a:p>
          <a:p>
            <a:pPr algn="ctr">
              <a:buNone/>
            </a:pPr>
            <a:r>
              <a:rPr lang="en-GB" sz="2500" b="1" strike="noStrike" spc="-1">
                <a:solidFill>
                  <a:srgbClr val="000000"/>
                </a:solidFill>
                <a:latin typeface="Times New Roman"/>
              </a:rPr>
              <a:t>Inadequate Reporting</a:t>
            </a:r>
            <a:r>
              <a:rPr lang="en-GB" sz="2500" b="0" strike="noStrike" spc="-1">
                <a:solidFill>
                  <a:srgbClr val="000000"/>
                </a:solidFill>
                <a:latin typeface="Times New Roman"/>
              </a:rPr>
              <a:t>: Generating comprehensive attendance reports requires manual compilation, which is time-consuming and error-prone.</a:t>
            </a:r>
            <a:endParaRPr lang="en-GB" sz="2500" b="0" strike="noStrike" spc="-1">
              <a:latin typeface="Arial"/>
            </a:endParaRPr>
          </a:p>
          <a:p>
            <a:pPr algn="ctr">
              <a:buNone/>
            </a:pPr>
            <a:r>
              <a:rPr lang="en-GB" sz="2500" b="1" strike="noStrike" spc="-1">
                <a:solidFill>
                  <a:srgbClr val="000000"/>
                </a:solidFill>
                <a:latin typeface="Times New Roman"/>
              </a:rPr>
              <a:t>Scalability Challenges</a:t>
            </a:r>
            <a:r>
              <a:rPr lang="en-GB" sz="2500" b="0" strike="noStrike" spc="-1">
                <a:solidFill>
                  <a:srgbClr val="000000"/>
                </a:solidFill>
                <a:latin typeface="Times New Roman"/>
              </a:rPr>
              <a:t>: As student enrolment increases, the manual system becomes increasingly cumbersome to manage.</a:t>
            </a:r>
            <a:endParaRPr lang="en-GB" sz="2500" b="0" strike="noStrike" spc="-1">
              <a:latin typeface="Arial"/>
            </a:endParaRPr>
          </a:p>
          <a:p>
            <a:pPr algn="ctr">
              <a:buNone/>
            </a:pPr>
            <a:r>
              <a:rPr lang="en-GB" sz="2500" b="1" strike="noStrike" spc="-1">
                <a:solidFill>
                  <a:srgbClr val="000000"/>
                </a:solidFill>
                <a:latin typeface="Times New Roman"/>
              </a:rPr>
              <a:t>Data Security Concerns</a:t>
            </a:r>
            <a:r>
              <a:rPr lang="en-GB" sz="2500" b="0" strike="noStrike" spc="-1">
                <a:solidFill>
                  <a:srgbClr val="000000"/>
                </a:solidFill>
                <a:latin typeface="Times New Roman"/>
              </a:rPr>
              <a:t>: Paper-based records and simple digital spreadsheets lack adequate security measures for sensitive attendance data.</a:t>
            </a:r>
            <a:endParaRPr lang="en-GB" sz="2500" b="0" strike="noStrike" spc="-1">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Main Objective and Specific Objectives</a:t>
            </a:r>
            <a:endParaRPr lang="en-GB" sz="1200" b="0" strike="noStrike" spc="-1">
              <a:latin typeface="Arial"/>
            </a:endParaRPr>
          </a:p>
        </p:txBody>
      </p:sp>
      <p:sp>
        <p:nvSpPr>
          <p:cNvPr id="7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1" strike="noStrike" spc="-1">
                <a:solidFill>
                  <a:srgbClr val="000000"/>
                </a:solidFill>
                <a:latin typeface="Times New Roman"/>
                <a:ea typeface="Songti SC"/>
              </a:rPr>
              <a:t>Main Objective: </a:t>
            </a:r>
            <a:r>
              <a:rPr lang="en-GB" sz="3200" b="0" strike="noStrike" spc="-1">
                <a:solidFill>
                  <a:srgbClr val="000000"/>
                </a:solidFill>
                <a:latin typeface="Times New Roman"/>
                <a:ea typeface="Songti SC"/>
              </a:rPr>
              <a:t>To design and develop a Biometric Attendance Management System that automates attendance tracking, enhances accuracy, and provides real-time monitoring capabilities for Bugema University.</a:t>
            </a:r>
            <a:endParaRPr lang="en-GB" sz="3200" b="0" strike="noStrike"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Specific Objectives:</a:t>
            </a:r>
            <a:endParaRPr lang="en-GB" sz="1200" b="0" strike="noStrike" spc="-1">
              <a:latin typeface="Arial"/>
            </a:endParaRPr>
          </a:p>
        </p:txBody>
      </p:sp>
      <p:sp>
        <p:nvSpPr>
          <p:cNvPr id="78" name="PlaceHolder 2"/>
          <p:cNvSpPr>
            <a:spLocks noGrp="1"/>
          </p:cNvSpPr>
          <p:nvPr>
            <p:ph type="subTitle"/>
          </p:nvPr>
        </p:nvSpPr>
        <p:spPr>
          <a:xfrm>
            <a:off x="504000" y="849600"/>
            <a:ext cx="9071640" cy="4242600"/>
          </a:xfrm>
          <a:prstGeom prst="rect">
            <a:avLst/>
          </a:prstGeom>
          <a:noFill/>
          <a:ln w="0">
            <a:noFill/>
          </a:ln>
        </p:spPr>
        <p:txBody>
          <a:bodyPr lIns="0" tIns="0" rIns="0" bIns="0" anchor="ctr">
            <a:noAutofit/>
          </a:bodyPr>
          <a:lstStyle/>
          <a:p>
            <a:pPr algn="ctr">
              <a:buNone/>
            </a:pPr>
            <a:r>
              <a:rPr lang="en-GB" sz="2500" b="0" strike="noStrike" spc="-1">
                <a:latin typeface="Arial"/>
              </a:rPr>
              <a:t>To analyse the current attendance management processes and identify requirements for an automated system.</a:t>
            </a:r>
          </a:p>
          <a:p>
            <a:pPr algn="ctr">
              <a:buNone/>
            </a:pPr>
            <a:r>
              <a:rPr lang="en-GB" sz="2500" b="0" strike="noStrike" spc="-1">
                <a:latin typeface="Arial"/>
              </a:rPr>
              <a:t>To design a biometric-based attendance system architecture incorporating facial recognition technology.</a:t>
            </a:r>
          </a:p>
          <a:p>
            <a:pPr algn="ctr">
              <a:buNone/>
            </a:pPr>
            <a:r>
              <a:rPr lang="en-GB" sz="2500" b="0" strike="noStrike" spc="-1">
                <a:latin typeface="Arial"/>
              </a:rPr>
              <a:t>To develop user-friendly interfaces for lecturers, students, and administrators based on identified requirements.</a:t>
            </a:r>
          </a:p>
          <a:p>
            <a:pPr algn="ctr">
              <a:buNone/>
            </a:pPr>
            <a:r>
              <a:rPr lang="en-GB" sz="2500" b="0" strike="noStrike" spc="-1">
                <a:latin typeface="Arial"/>
              </a:rPr>
              <a:t>To implement secure data storage and transmission mechanisms for biometric templates and attendance records.</a:t>
            </a:r>
          </a:p>
          <a:p>
            <a:pPr algn="ctr">
              <a:buNone/>
            </a:pPr>
            <a:r>
              <a:rPr lang="en-GB" sz="2500" b="0" strike="noStrike" spc="-1">
                <a:latin typeface="Arial"/>
              </a:rPr>
              <a:t>To integrate reporting and analytics features for generating comprehensive attendance insights.</a:t>
            </a:r>
          </a:p>
          <a:p>
            <a:pPr algn="ctr">
              <a:buNone/>
            </a:pPr>
            <a:r>
              <a:rPr lang="en-GB" sz="2500" b="0" strike="noStrike" spc="-1">
                <a:latin typeface="Arial"/>
              </a:rPr>
              <a:t>To test and validate the system's functionality, performance, and security.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Research/Project Questions</a:t>
            </a:r>
            <a:endParaRPr lang="en-GB" sz="1200" b="0" strike="noStrike" spc="-1">
              <a:latin typeface="Arial"/>
            </a:endParaRPr>
          </a:p>
        </p:txBody>
      </p:sp>
      <p:sp>
        <p:nvSpPr>
          <p:cNvPr id="80"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latin typeface="Arial"/>
              </a:rPr>
              <a:t>What are the specific requirements for a biometric attendance system from the perspectives of lecturers, students, and administrators at Bugema University?</a:t>
            </a:r>
          </a:p>
          <a:p>
            <a:pPr algn="ctr">
              <a:buNone/>
            </a:pPr>
            <a:r>
              <a:rPr lang="en-GB" sz="2000" b="0" strike="noStrike" spc="-1">
                <a:latin typeface="Arial"/>
              </a:rPr>
              <a:t>How can facial recognition technology be effectively integrated into an attendance management system while ensuring accuracy and user acceptance?</a:t>
            </a:r>
          </a:p>
          <a:p>
            <a:pPr algn="ctr">
              <a:buNone/>
            </a:pPr>
            <a:r>
              <a:rPr lang="en-GB" sz="2000" b="0" strike="noStrike" spc="-1">
                <a:latin typeface="Arial"/>
              </a:rPr>
              <a:t>What system architecture and database design would best support the biometric attendance management requirements?</a:t>
            </a:r>
          </a:p>
          <a:p>
            <a:pPr algn="ctr">
              <a:buNone/>
            </a:pPr>
            <a:r>
              <a:rPr lang="en-GB" sz="2000" b="0" strike="noStrike" spc="-1">
                <a:latin typeface="Arial"/>
              </a:rPr>
              <a:t>What security measures are necessary to protect biometric data and ensure system integrity?</a:t>
            </a:r>
          </a:p>
          <a:p>
            <a:pPr algn="ctr">
              <a:buNone/>
            </a:pPr>
            <a:r>
              <a:rPr lang="en-GB" sz="2000" b="0" strike="noStrike" spc="-1">
                <a:latin typeface="Arial"/>
              </a:rPr>
              <a:t>How does the proposed system compare with traditional attendance methods in terms of efficiency, accuracy, and user satisfaction?</a:t>
            </a:r>
          </a:p>
          <a:p>
            <a:pPr algn="ctr">
              <a:buNone/>
            </a:pPr>
            <a:endParaRPr lang="en-GB" sz="20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Scope of the Study</a:t>
            </a:r>
            <a:endParaRPr lang="en-GB" sz="1200" b="0" strike="noStrike" spc="-1">
              <a:latin typeface="Arial"/>
            </a:endParaRPr>
          </a:p>
        </p:txBody>
      </p:sp>
      <p:sp>
        <p:nvSpPr>
          <p:cNvPr id="82" name="PlaceHolder 2"/>
          <p:cNvSpPr>
            <a:spLocks noGrp="1"/>
          </p:cNvSpPr>
          <p:nvPr>
            <p:ph type="subTitle"/>
          </p:nvPr>
        </p:nvSpPr>
        <p:spPr>
          <a:xfrm>
            <a:off x="504000" y="921960"/>
            <a:ext cx="9071640" cy="4097880"/>
          </a:xfrm>
          <a:prstGeom prst="rect">
            <a:avLst/>
          </a:prstGeom>
          <a:noFill/>
          <a:ln w="0">
            <a:noFill/>
          </a:ln>
        </p:spPr>
        <p:txBody>
          <a:bodyPr lIns="0" tIns="0" rIns="0" bIns="0" anchor="ctr">
            <a:noAutofit/>
          </a:bodyPr>
          <a:lstStyle/>
          <a:p>
            <a:pPr algn="ctr">
              <a:buNone/>
            </a:pPr>
            <a:r>
              <a:rPr lang="en-GB" sz="3200" b="0" strike="noStrike" spc="-1">
                <a:latin typeface="Arial"/>
              </a:rPr>
              <a:t>The project scope encompasses:</a:t>
            </a:r>
          </a:p>
          <a:p>
            <a:pPr algn="ctr">
              <a:buNone/>
            </a:pPr>
            <a:r>
              <a:rPr lang="en-GB" sz="3200" b="1" strike="noStrike" spc="-1">
                <a:solidFill>
                  <a:srgbClr val="000000"/>
                </a:solidFill>
                <a:latin typeface="Times New Roman"/>
              </a:rPr>
              <a:t>Functional Scope</a:t>
            </a:r>
            <a:r>
              <a:rPr lang="en-GB" sz="3200" b="0" strike="noStrike" spc="-1">
                <a:solidFill>
                  <a:srgbClr val="000000"/>
                </a:solidFill>
                <a:latin typeface="Times New Roman"/>
              </a:rPr>
              <a:t>:</a:t>
            </a:r>
            <a:endParaRPr lang="en-GB" sz="3200" b="0" strike="noStrike" spc="-1">
              <a:latin typeface="Arial"/>
            </a:endParaRPr>
          </a:p>
          <a:p>
            <a:pPr algn="ctr">
              <a:buNone/>
            </a:pPr>
            <a:r>
              <a:rPr lang="en-GB" sz="3200" b="0" strike="noStrike" spc="-1">
                <a:latin typeface="Arial"/>
              </a:rPr>
              <a:t>User registration and authentication for lecturers and students</a:t>
            </a:r>
          </a:p>
          <a:p>
            <a:pPr algn="ctr">
              <a:buNone/>
            </a:pPr>
            <a:r>
              <a:rPr lang="en-GB" sz="3200" b="0" strike="noStrike" spc="-1">
                <a:latin typeface="Arial"/>
              </a:rPr>
              <a:t>Biometric enrolment and verification</a:t>
            </a:r>
          </a:p>
          <a:p>
            <a:pPr algn="ctr">
              <a:buNone/>
            </a:pPr>
            <a:r>
              <a:rPr lang="en-GB" sz="3200" b="0" strike="noStrike" spc="-1">
                <a:latin typeface="Arial"/>
              </a:rPr>
              <a:t>Session creation and management</a:t>
            </a:r>
          </a:p>
          <a:p>
            <a:pPr algn="ctr">
              <a:buNone/>
            </a:pPr>
            <a:r>
              <a:rPr lang="en-GB" sz="3200" b="0" strike="noStrike" spc="-1">
                <a:latin typeface="Arial"/>
              </a:rPr>
              <a:t>Real-time attendance tracking</a:t>
            </a:r>
          </a:p>
          <a:p>
            <a:pPr algn="ctr">
              <a:buNone/>
            </a:pPr>
            <a:r>
              <a:rPr lang="en-GB" sz="3200" b="0" strike="noStrike" spc="-1">
                <a:latin typeface="Arial"/>
              </a:rPr>
              <a:t>Report generation and export</a:t>
            </a:r>
          </a:p>
          <a:p>
            <a:pPr algn="ctr">
              <a:buNone/>
            </a:pPr>
            <a:r>
              <a:rPr lang="en-GB" sz="3200" b="0" strike="noStrike" spc="-1">
                <a:latin typeface="Arial"/>
              </a:rPr>
              <a:t>Basic analytics and dashboard views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1" strike="noStrike" spc="-1">
                <a:solidFill>
                  <a:srgbClr val="000000"/>
                </a:solidFill>
                <a:latin typeface="Times New Roman"/>
              </a:rPr>
              <a:t>Technical Scope</a:t>
            </a:r>
            <a:r>
              <a:rPr lang="en-GB" sz="3200" b="0" strike="noStrike" spc="-1">
                <a:solidFill>
                  <a:srgbClr val="000000"/>
                </a:solidFill>
                <a:latin typeface="Times New Roman"/>
              </a:rPr>
              <a:t>:</a:t>
            </a:r>
            <a:endParaRPr lang="en-GB" sz="3200" b="0" strike="noStrike" spc="-1">
              <a:latin typeface="Arial"/>
            </a:endParaRPr>
          </a:p>
          <a:p>
            <a:pPr algn="ctr">
              <a:buNone/>
            </a:pPr>
            <a:r>
              <a:rPr lang="en-GB" sz="3200" b="0" strike="noStrike" spc="-1">
                <a:latin typeface="Arial"/>
              </a:rPr>
              <a:t>Web-based application accessible via browsers</a:t>
            </a:r>
          </a:p>
          <a:p>
            <a:pPr algn="ctr">
              <a:buNone/>
            </a:pPr>
            <a:r>
              <a:rPr lang="en-GB" sz="3200" b="0" strike="noStrike" spc="-1">
                <a:latin typeface="Arial"/>
              </a:rPr>
              <a:t>Facial recognition using web cameras</a:t>
            </a:r>
          </a:p>
          <a:p>
            <a:pPr algn="ctr">
              <a:buNone/>
            </a:pPr>
            <a:r>
              <a:rPr lang="en-GB" sz="3200" b="0" strike="noStrike" spc="-1">
                <a:latin typeface="Arial"/>
              </a:rPr>
              <a:t>Relational database for data storage</a:t>
            </a:r>
          </a:p>
          <a:p>
            <a:pPr algn="ctr">
              <a:buNone/>
            </a:pPr>
            <a:r>
              <a:rPr lang="en-GB" sz="3200" b="0" strike="noStrike" spc="-1">
                <a:latin typeface="Arial"/>
              </a:rPr>
              <a:t>Responsive design for various screen sizes</a:t>
            </a:r>
          </a:p>
          <a:p>
            <a:pPr algn="ctr">
              <a:buNone/>
            </a:pPr>
            <a:r>
              <a:rPr lang="en-GB" sz="3200" b="0" strike="noStrike" spc="-1">
                <a:latin typeface="Arial"/>
              </a:rPr>
              <a:t>Integration with existing university systems (where APIs are available)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1" strike="noStrike" spc="-1">
                <a:solidFill>
                  <a:srgbClr val="000000"/>
                </a:solidFill>
                <a:latin typeface="Times New Roman"/>
              </a:rPr>
              <a:t>Limitations</a:t>
            </a:r>
            <a:r>
              <a:rPr lang="en-GB" sz="3200" b="0" strike="noStrike" spc="-1">
                <a:solidFill>
                  <a:srgbClr val="000000"/>
                </a:solidFill>
                <a:latin typeface="Times New Roman"/>
              </a:rPr>
              <a:t>:</a:t>
            </a:r>
            <a:endParaRPr lang="en-GB" sz="3200" b="0" strike="noStrike" spc="-1">
              <a:latin typeface="Arial"/>
            </a:endParaRPr>
          </a:p>
          <a:p>
            <a:pPr algn="ctr">
              <a:buNone/>
            </a:pPr>
            <a:r>
              <a:rPr lang="en-GB" sz="3200" b="0" strike="noStrike" spc="-1">
                <a:latin typeface="Arial"/>
              </a:rPr>
              <a:t>The system will be implemented as a standalone web application initially</a:t>
            </a:r>
          </a:p>
          <a:p>
            <a:pPr algn="ctr">
              <a:buNone/>
            </a:pPr>
            <a:r>
              <a:rPr lang="en-GB" sz="3200" b="0" strike="noStrike" spc="-1">
                <a:latin typeface="Arial"/>
              </a:rPr>
              <a:t>Mobile application development is excluded from initial scope</a:t>
            </a:r>
          </a:p>
          <a:p>
            <a:pPr algn="ctr">
              <a:buNone/>
            </a:pPr>
            <a:r>
              <a:rPr lang="en-GB" sz="3200" b="0" strike="noStrike" spc="-1">
                <a:latin typeface="Arial"/>
              </a:rPr>
              <a:t>Integration with university ERP will be via basic data import/export initially</a:t>
            </a:r>
          </a:p>
          <a:p>
            <a:pPr algn="ctr">
              <a:buNone/>
            </a:pPr>
            <a:r>
              <a:rPr lang="en-GB" sz="3200" b="0" strike="noStrike" spc="-1">
                <a:latin typeface="Arial"/>
              </a:rPr>
              <a:t>Hardware-based biometric devices (fingerprint scanners) are optional enhancements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Significance of the Project</a:t>
            </a:r>
            <a:endParaRPr lang="en-GB" sz="1200" b="0" strike="noStrike" spc="-1">
              <a:latin typeface="Arial"/>
            </a:endParaRPr>
          </a:p>
        </p:txBody>
      </p:sp>
      <p:sp>
        <p:nvSpPr>
          <p:cNvPr id="8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700" b="0" strike="noStrike" spc="-1">
                <a:latin typeface="Arial"/>
              </a:rPr>
              <a:t>The Biometric Attendance Management System offers several significant benefits:</a:t>
            </a:r>
          </a:p>
          <a:p>
            <a:pPr algn="ctr">
              <a:buNone/>
            </a:pPr>
            <a:r>
              <a:rPr lang="en-GB" sz="2700" b="1" strike="noStrike" spc="-1">
                <a:solidFill>
                  <a:srgbClr val="000000"/>
                </a:solidFill>
                <a:latin typeface="Times New Roman"/>
              </a:rPr>
              <a:t>Operational Efficiency</a:t>
            </a:r>
            <a:r>
              <a:rPr lang="en-GB" sz="2700" b="0" strike="noStrike" spc="-1">
                <a:solidFill>
                  <a:srgbClr val="000000"/>
                </a:solidFill>
                <a:latin typeface="Times New Roman"/>
              </a:rPr>
              <a:t>: Reduces time spent on attendance taking by approximately 70%, allowing more time for instruction.</a:t>
            </a:r>
            <a:endParaRPr lang="en-GB" sz="2700" b="0" strike="noStrike" spc="-1">
              <a:latin typeface="Arial"/>
            </a:endParaRPr>
          </a:p>
          <a:p>
            <a:pPr algn="ctr">
              <a:buNone/>
            </a:pPr>
            <a:r>
              <a:rPr lang="en-GB" sz="2700" b="1" strike="noStrike" spc="-1">
                <a:solidFill>
                  <a:srgbClr val="000000"/>
                </a:solidFill>
                <a:latin typeface="Times New Roman"/>
              </a:rPr>
              <a:t>Enhanced Accuracy</a:t>
            </a:r>
            <a:r>
              <a:rPr lang="en-GB" sz="2700" b="0" strike="noStrike" spc="-1">
                <a:solidFill>
                  <a:srgbClr val="000000"/>
                </a:solidFill>
                <a:latin typeface="Times New Roman"/>
              </a:rPr>
              <a:t>: Eliminates human errors in attendance recording through automated processes.</a:t>
            </a:r>
            <a:endParaRPr lang="en-GB" sz="2700" b="0" strike="noStrike" spc="-1">
              <a:latin typeface="Arial"/>
            </a:endParaRPr>
          </a:p>
          <a:p>
            <a:pPr algn="ctr">
              <a:buNone/>
            </a:pPr>
            <a:r>
              <a:rPr lang="en-GB" sz="2700" b="1" strike="noStrike" spc="-1">
                <a:solidFill>
                  <a:srgbClr val="000000"/>
                </a:solidFill>
                <a:latin typeface="Times New Roman"/>
              </a:rPr>
              <a:t>Proxy Prevention</a:t>
            </a:r>
            <a:r>
              <a:rPr lang="en-GB" sz="2700" b="0" strike="noStrike" spc="-1">
                <a:solidFill>
                  <a:srgbClr val="000000"/>
                </a:solidFill>
                <a:latin typeface="Times New Roman"/>
              </a:rPr>
              <a:t>: Facial recognition technology ensures that only physically present students can mark attendance.</a:t>
            </a:r>
            <a:endParaRPr lang="en-GB" sz="2700" b="0" strike="noStrike" spc="-1">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88"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500" b="1" strike="noStrike" spc="-1">
                <a:solidFill>
                  <a:srgbClr val="000000"/>
                </a:solidFill>
                <a:latin typeface="Times New Roman"/>
              </a:rPr>
              <a:t>Real-time Monitoring</a:t>
            </a:r>
            <a:r>
              <a:rPr lang="en-GB" sz="2500" b="0" strike="noStrike" spc="-1">
                <a:solidFill>
                  <a:srgbClr val="000000"/>
                </a:solidFill>
                <a:latin typeface="Times New Roman"/>
              </a:rPr>
              <a:t>: Provides immediate access to attendance data for timely intervention and decision-making.</a:t>
            </a:r>
            <a:endParaRPr lang="en-GB" sz="2500" b="0" strike="noStrike" spc="-1">
              <a:latin typeface="Arial"/>
            </a:endParaRPr>
          </a:p>
          <a:p>
            <a:pPr algn="ctr">
              <a:buNone/>
            </a:pPr>
            <a:r>
              <a:rPr lang="en-GB" sz="2500" b="1" strike="noStrike" spc="-1">
                <a:solidFill>
                  <a:srgbClr val="000000"/>
                </a:solidFill>
                <a:latin typeface="Times New Roman"/>
              </a:rPr>
              <a:t>Comprehensive Reporting</a:t>
            </a:r>
            <a:r>
              <a:rPr lang="en-GB" sz="2500" b="0" strike="noStrike" spc="-1">
                <a:solidFill>
                  <a:srgbClr val="000000"/>
                </a:solidFill>
                <a:latin typeface="Times New Roman"/>
              </a:rPr>
              <a:t>: Automates report generation for various stakeholders including lecturers, department heads, and administration.</a:t>
            </a:r>
            <a:endParaRPr lang="en-GB" sz="2500" b="0" strike="noStrike" spc="-1">
              <a:latin typeface="Arial"/>
            </a:endParaRPr>
          </a:p>
          <a:p>
            <a:pPr algn="ctr">
              <a:buNone/>
            </a:pPr>
            <a:r>
              <a:rPr lang="en-GB" sz="2500" b="1" strike="noStrike" spc="-1">
                <a:solidFill>
                  <a:srgbClr val="000000"/>
                </a:solidFill>
                <a:latin typeface="Times New Roman"/>
              </a:rPr>
              <a:t>Data-driven Insights</a:t>
            </a:r>
            <a:r>
              <a:rPr lang="en-GB" sz="2500" b="0" strike="noStrike" spc="-1">
                <a:solidFill>
                  <a:srgbClr val="000000"/>
                </a:solidFill>
                <a:latin typeface="Times New Roman"/>
              </a:rPr>
              <a:t>: Analytics features help identify attendance patterns, enabling proactive measures for student engagement.</a:t>
            </a:r>
            <a:endParaRPr lang="en-GB" sz="2500" b="0" strike="noStrike" spc="-1">
              <a:latin typeface="Arial"/>
            </a:endParaRPr>
          </a:p>
          <a:p>
            <a:pPr algn="ctr">
              <a:buNone/>
            </a:pPr>
            <a:r>
              <a:rPr lang="en-GB" sz="2500" b="1" strike="noStrike" spc="-1">
                <a:solidFill>
                  <a:srgbClr val="000000"/>
                </a:solidFill>
                <a:latin typeface="Times New Roman"/>
              </a:rPr>
              <a:t>Scalability</a:t>
            </a:r>
            <a:r>
              <a:rPr lang="en-GB" sz="2500" b="0" strike="noStrike" spc="-1">
                <a:solidFill>
                  <a:srgbClr val="000000"/>
                </a:solidFill>
                <a:latin typeface="Times New Roman"/>
              </a:rPr>
              <a:t>: The digital system can easily accommodate growing student populations without proportional increases in administrative effort.</a:t>
            </a:r>
            <a:endParaRPr lang="en-GB" sz="2500" b="0" strike="noStrike" spc="-1">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90"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1" strike="noStrike" spc="-1">
                <a:solidFill>
                  <a:srgbClr val="000000"/>
                </a:solidFill>
                <a:latin typeface="Times New Roman"/>
              </a:rPr>
              <a:t>Compliance</a:t>
            </a:r>
            <a:r>
              <a:rPr lang="en-GB" sz="3200" b="0" strike="noStrike" spc="-1">
                <a:solidFill>
                  <a:srgbClr val="000000"/>
                </a:solidFill>
                <a:latin typeface="Times New Roman"/>
              </a:rPr>
              <a:t>: Maintains accurate records for regulatory requirements and accreditation purposes.</a:t>
            </a:r>
            <a:endParaRPr lang="en-GB" sz="3200" b="0" strike="noStrike" spc="-1">
              <a:latin typeface="Arial"/>
            </a:endParaRPr>
          </a:p>
          <a:p>
            <a:pPr algn="ctr">
              <a:buNone/>
            </a:pPr>
            <a:r>
              <a:rPr lang="en-GB" sz="3200" b="1" strike="noStrike" spc="-1">
                <a:solidFill>
                  <a:srgbClr val="000000"/>
                </a:solidFill>
                <a:latin typeface="Times New Roman"/>
              </a:rPr>
              <a:t>Environmental Impact</a:t>
            </a:r>
            <a:r>
              <a:rPr lang="en-GB" sz="3200" b="0" strike="noStrike" spc="-1">
                <a:solidFill>
                  <a:srgbClr val="000000"/>
                </a:solidFill>
                <a:latin typeface="Times New Roman"/>
              </a:rPr>
              <a:t>: Reduces paper consumption associated with traditional attendance methods.</a:t>
            </a:r>
            <a:endParaRPr lang="en-GB" sz="3200" b="0" strike="noStrike" spc="-1">
              <a:latin typeface="Arial"/>
            </a:endParaRPr>
          </a:p>
          <a:p>
            <a:pPr algn="ctr">
              <a:buNone/>
            </a:pPr>
            <a:r>
              <a:rPr lang="en-GB" sz="3200" b="1" strike="noStrike" spc="-1">
                <a:solidFill>
                  <a:srgbClr val="000000"/>
                </a:solidFill>
                <a:latin typeface="Times New Roman"/>
              </a:rPr>
              <a:t>Technology Integration</a:t>
            </a:r>
            <a:r>
              <a:rPr lang="en-GB" sz="3200" b="0" strike="noStrike" spc="-1">
                <a:solidFill>
                  <a:srgbClr val="000000"/>
                </a:solidFill>
                <a:latin typeface="Times New Roman"/>
              </a:rPr>
              <a:t>: Advances the university's digital transformation journey and prepares infrastructure for future technological enhancements.</a:t>
            </a:r>
            <a:endParaRPr lang="en-GB" sz="3200" b="0" strike="noStrike" spc="-1">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CHAPTER 2: LITERATURE REVIEW</a:t>
            </a:r>
            <a:endParaRPr lang="en-GB" sz="1200" b="0" strike="noStrike" spc="-1">
              <a:latin typeface="Arial"/>
            </a:endParaRPr>
          </a:p>
        </p:txBody>
      </p:sp>
      <p:sp>
        <p:nvSpPr>
          <p:cNvPr id="92"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1" strike="noStrike" spc="-1">
                <a:latin typeface="Times New Roman"/>
              </a:rPr>
              <a:t>Introduction</a:t>
            </a:r>
          </a:p>
          <a:p>
            <a:pPr algn="ctr">
              <a:buNone/>
            </a:pPr>
            <a:r>
              <a:rPr lang="en-GB" sz="2000" b="0" strike="noStrike" spc="-1">
                <a:latin typeface="Arial"/>
              </a:rPr>
              <a:t>This chapter presents a comprehensive and critical analysis of existing scholarly works, industry reports, and technological frameworks pertinent to the development and implementation of the Biometric Attendance Management System (BAMS). The review is structured to establish a robust theoretical and practical foundation for the proposed system by systematically exploring three core domains: (1) the evolution, types, and reliability of biometric technologies, (2) the trajectory and limitations of attendance management systems in institutional settings, and (3) the integration and impact of educational technology (EdTech) on administrative efficiency and pedagogical outcomes.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94"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1800" b="0" strike="noStrike" spc="-1">
                <a:latin typeface="Times New Roman"/>
                <a:ea typeface="Songti SC"/>
              </a:rPr>
              <a:t>The primary objectives of this review are multifaceted: to synthesise current knowledge on biometric authentication mechanisms, particularly their applicability in high-throughput environments like educational institutions; to critically evaluate the effectiveness of existing digital and manual attendance solutions, highlighting their operational, security, and analytical shortcomings; and to identify proven strategies and potential pitfalls in EdTech implementation. By triangulating literature from these interconnected fields, this review will crystallise the specific research and development gaps—spanning technical, ethical, and usability dimensions—that the proposed BAMS aims to address. Ultimately, this chapter justifies the necessity of the project by demonstrating how an integrated, biometric-based system can offer a superior solution to the persistent challenges of accuracy, automation, fraud prevention, and data utilisation in attendance management.</a:t>
            </a:r>
            <a:endParaRPr lang="en-GB" sz="1800" b="0" strike="noStrike" spc="-1">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Review of Related Literature</a:t>
            </a:r>
            <a:endParaRPr lang="en-GB" sz="1200" b="0" strike="noStrike" spc="-1">
              <a:latin typeface="Arial"/>
            </a:endParaRPr>
          </a:p>
        </p:txBody>
      </p:sp>
      <p:sp>
        <p:nvSpPr>
          <p:cNvPr id="9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latin typeface="Times New Roman"/>
                <a:ea typeface="Songti SC"/>
              </a:rPr>
              <a:t>Traditional attendance systems have evolved significantly over the past decade. According to Kumar and Singh (2021), manual attendance methods in educational institutions consume approximately 15-20% of instructional time. Their study at three Indian universities revealed that lecturers spend an average of 12 minutes per session on attendance-related activities, totaling over 50 hours per academic year per course.</a:t>
            </a:r>
            <a:endParaRPr lang="en-GB" sz="2000" b="0" strike="noStrike" spc="-1">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98"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900" b="0" strike="noStrike" spc="-1">
                <a:latin typeface="Times New Roman"/>
                <a:ea typeface="Songti SC"/>
              </a:rPr>
              <a:t>Smith et al. (2020) conducted a comparative analysis of digital attendance systems and found that RFID-based systems achieved 92% accuracy but suffered from proxy attendance issues, where students could share RFID cards. Their research indicated that biometric systems reduced proxy attendance by 97% compared to traditional methods.</a:t>
            </a:r>
            <a:endParaRPr lang="en-GB" sz="2900" b="0" strike="noStrike" spc="-1">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00"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2000" b="0" strike="noStrike" spc="-1">
                <a:latin typeface="Times New Roman"/>
                <a:ea typeface="Songti SC"/>
              </a:rPr>
              <a:t>A study by Chen and Wang (2019) on facial recognition attendance systems in Chinese universities demonstrated 94.3% accuracy in controlled lighting conditions but noted performance degradation (to 78.5%) in poor lighting environments. This highlights the importance of environmental factors in biometric system design.</a:t>
            </a:r>
            <a:endParaRPr lang="en-GB" sz="2000" b="0" strike="noStrike" spc="-1">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Related IT Projects</a:t>
            </a:r>
            <a:endParaRPr lang="en-GB" sz="1200" b="0" strike="noStrike" spc="-1">
              <a:latin typeface="Arial"/>
            </a:endParaRPr>
          </a:p>
        </p:txBody>
      </p:sp>
      <p:sp>
        <p:nvSpPr>
          <p:cNvPr id="102"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Several biometric attendance systems have been implemented globally with varying success:</a:t>
            </a:r>
          </a:p>
          <a:p>
            <a:pPr algn="ctr">
              <a:buNone/>
            </a:pPr>
            <a:r>
              <a:rPr lang="en-GB" sz="3200" b="0" strike="noStrike" spc="-1">
                <a:latin typeface="Arial"/>
              </a:rPr>
              <a:t>1. University of Nairobi Biometric System (2018)</a:t>
            </a:r>
          </a:p>
          <a:p>
            <a:pPr algn="ctr">
              <a:buNone/>
            </a:pPr>
            <a:r>
              <a:rPr lang="en-GB" sz="3200" b="0" strike="noStrike" spc="-1">
                <a:latin typeface="Arial"/>
              </a:rPr>
              <a:t>Used fingerprint recognition for 15,000+ students</a:t>
            </a:r>
          </a:p>
          <a:p>
            <a:pPr algn="ctr">
              <a:buNone/>
            </a:pPr>
            <a:r>
              <a:rPr lang="en-GB" sz="3200" b="0" strike="noStrike" spc="-1">
                <a:latin typeface="Arial"/>
              </a:rPr>
              <a:t>Achieved 89% reduction in proxy attendance</a:t>
            </a:r>
          </a:p>
          <a:p>
            <a:pPr algn="ctr">
              <a:buNone/>
            </a:pPr>
            <a:r>
              <a:rPr lang="en-GB" sz="3200" b="0" strike="noStrike" spc="-1">
                <a:latin typeface="Arial"/>
              </a:rPr>
              <a:t>Challenges: Hardware maintenance issues and student resistance to fingerprint scanning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04" name="PlaceHolder 2"/>
          <p:cNvSpPr>
            <a:spLocks noGrp="1"/>
          </p:cNvSpPr>
          <p:nvPr>
            <p:ph type="subTitle"/>
          </p:nvPr>
        </p:nvSpPr>
        <p:spPr>
          <a:xfrm>
            <a:off x="504000" y="1147680"/>
            <a:ext cx="9071640" cy="3646440"/>
          </a:xfrm>
          <a:prstGeom prst="rect">
            <a:avLst/>
          </a:prstGeom>
          <a:noFill/>
          <a:ln w="0">
            <a:noFill/>
          </a:ln>
        </p:spPr>
        <p:txBody>
          <a:bodyPr lIns="0" tIns="0" rIns="0" bIns="0" anchor="ctr">
            <a:noAutofit/>
          </a:bodyPr>
          <a:lstStyle/>
          <a:p>
            <a:pPr algn="ctr">
              <a:buNone/>
            </a:pPr>
            <a:r>
              <a:rPr lang="en-GB" sz="3200" b="0" strike="noStrike" spc="-1">
                <a:latin typeface="Arial"/>
              </a:rPr>
              <a:t>2. MIT AutoAttendance Project (2020)</a:t>
            </a:r>
          </a:p>
          <a:p>
            <a:pPr algn="ctr">
              <a:buNone/>
            </a:pPr>
            <a:r>
              <a:rPr lang="en-GB" sz="3200" b="0" strike="noStrike" spc="-1">
                <a:latin typeface="Arial"/>
              </a:rPr>
              <a:t>Implemented facial recognition using classroom cameras</a:t>
            </a:r>
          </a:p>
          <a:p>
            <a:pPr algn="ctr">
              <a:buNone/>
            </a:pPr>
            <a:r>
              <a:rPr lang="en-GB" sz="3200" b="0" strike="noStrike" spc="-1">
                <a:latin typeface="Arial"/>
              </a:rPr>
              <a:t>Integrated with existing LMS (Canvas)</a:t>
            </a:r>
          </a:p>
          <a:p>
            <a:pPr algn="ctr">
              <a:buNone/>
            </a:pPr>
            <a:r>
              <a:rPr lang="en-GB" sz="3200" b="0" strike="noStrike" spc="-1">
                <a:latin typeface="Arial"/>
              </a:rPr>
              <a:t>Key feature: Automated attendance without student interaction</a:t>
            </a:r>
          </a:p>
          <a:p>
            <a:pPr algn="ctr">
              <a:buNone/>
            </a:pPr>
            <a:r>
              <a:rPr lang="en-GB" sz="3200" b="0" strike="noStrike" spc="-1">
                <a:latin typeface="Arial"/>
              </a:rPr>
              <a:t>Limitations: Privacy concerns and high implementation costs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0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3. Singapore Polytechnic Smart Attendance (2021)</a:t>
            </a:r>
          </a:p>
          <a:p>
            <a:pPr algn="ctr">
              <a:buNone/>
            </a:pPr>
            <a:r>
              <a:rPr lang="en-GB" sz="3200" b="0" strike="noStrike" spc="-1">
                <a:latin typeface="Arial"/>
              </a:rPr>
              <a:t>Combined RFID and facial recognition</a:t>
            </a:r>
          </a:p>
          <a:p>
            <a:pPr algn="ctr">
              <a:buNone/>
            </a:pPr>
            <a:r>
              <a:rPr lang="en-GB" sz="3200" b="0" strike="noStrike" spc="-1">
                <a:latin typeface="Arial"/>
              </a:rPr>
              <a:t>Mobile app for student check-in</a:t>
            </a:r>
          </a:p>
          <a:p>
            <a:pPr algn="ctr">
              <a:buNone/>
            </a:pPr>
            <a:r>
              <a:rPr lang="en-GB" sz="3200" b="0" strike="noStrike" spc="-1">
                <a:latin typeface="Arial"/>
              </a:rPr>
              <a:t>Real-time dashboard for lecturers</a:t>
            </a:r>
          </a:p>
          <a:p>
            <a:pPr algn="ctr">
              <a:buNone/>
            </a:pPr>
            <a:r>
              <a:rPr lang="en-GB" sz="3200" b="0" strike="noStrike" spc="-1">
                <a:latin typeface="Arial"/>
              </a:rPr>
              <a:t>Success factors: Strong institutional support and comprehensive training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08" name="PlaceHolder 2"/>
          <p:cNvSpPr>
            <a:spLocks noGrp="1"/>
          </p:cNvSpPr>
          <p:nvPr>
            <p:ph type="subTitle"/>
          </p:nvPr>
        </p:nvSpPr>
        <p:spPr>
          <a:xfrm>
            <a:off x="504000" y="1164960"/>
            <a:ext cx="9071640" cy="3611880"/>
          </a:xfrm>
          <a:prstGeom prst="rect">
            <a:avLst/>
          </a:prstGeom>
          <a:noFill/>
          <a:ln w="0">
            <a:noFill/>
          </a:ln>
        </p:spPr>
        <p:txBody>
          <a:bodyPr lIns="0" tIns="0" rIns="0" bIns="0" anchor="ctr">
            <a:noAutofit/>
          </a:bodyPr>
          <a:lstStyle/>
          <a:p>
            <a:pPr algn="ctr">
              <a:buNone/>
            </a:pPr>
            <a:r>
              <a:rPr lang="en-GB" sz="3200" b="1" strike="noStrike" spc="-1">
                <a:latin typeface="Times New Roman"/>
              </a:rPr>
              <a:t>Commercial Systems Analysis:</a:t>
            </a:r>
          </a:p>
          <a:p>
            <a:pPr algn="ctr">
              <a:buNone/>
            </a:pPr>
            <a:r>
              <a:rPr lang="en-GB" sz="3200" b="1" strike="noStrike" spc="-1">
                <a:solidFill>
                  <a:srgbClr val="000000"/>
                </a:solidFill>
                <a:latin typeface="Times New Roman"/>
              </a:rPr>
              <a:t>ClassRoom (as referenced in interface screenshots)</a:t>
            </a:r>
            <a:r>
              <a:rPr lang="en-GB" sz="3200" b="0" strike="noStrike" spc="-1">
                <a:solidFill>
                  <a:srgbClr val="000000"/>
                </a:solidFill>
                <a:latin typeface="Times New Roman"/>
              </a:rPr>
              <a:t>: Marketed to 10,000+ educators, emphasises ease of use and reporting features</a:t>
            </a:r>
            <a:endParaRPr lang="en-GB" sz="3200" b="0" strike="noStrike" spc="-1">
              <a:latin typeface="Arial"/>
            </a:endParaRPr>
          </a:p>
          <a:p>
            <a:pPr algn="ctr">
              <a:buNone/>
            </a:pPr>
            <a:r>
              <a:rPr lang="en-GB" sz="3200" b="1" strike="noStrike" spc="-1">
                <a:solidFill>
                  <a:srgbClr val="000000"/>
                </a:solidFill>
                <a:latin typeface="Times New Roman"/>
              </a:rPr>
              <a:t>BioAttend Pro</a:t>
            </a:r>
            <a:r>
              <a:rPr lang="en-GB" sz="3200" b="0" strike="noStrike" spc="-1">
                <a:solidFill>
                  <a:srgbClr val="000000"/>
                </a:solidFill>
                <a:latin typeface="Times New Roman"/>
              </a:rPr>
              <a:t>: Focuses on multiple biometric modalities (fingerprint, face, iris)</a:t>
            </a:r>
            <a:endParaRPr lang="en-GB" sz="3200" b="0" strike="noStrike" spc="-1">
              <a:latin typeface="Arial"/>
            </a:endParaRPr>
          </a:p>
          <a:p>
            <a:pPr algn="ctr">
              <a:buNone/>
            </a:pPr>
            <a:r>
              <a:rPr lang="en-GB" sz="3200" b="1" strike="noStrike" spc="-1">
                <a:solidFill>
                  <a:srgbClr val="000000"/>
                </a:solidFill>
                <a:latin typeface="Times New Roman"/>
              </a:rPr>
              <a:t>EduTrack Biometric</a:t>
            </a:r>
            <a:r>
              <a:rPr lang="en-GB" sz="3200" b="0" strike="noStrike" spc="-1">
                <a:solidFill>
                  <a:srgbClr val="000000"/>
                </a:solidFill>
                <a:latin typeface="Times New Roman"/>
              </a:rPr>
              <a:t>: Specialises in integration with existing school management systems</a:t>
            </a:r>
            <a:endParaRPr lang="en-GB" sz="3200" b="0" strike="noStrike" spc="-1">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Theoretical Foundations</a:t>
            </a:r>
            <a:endParaRPr lang="en-GB" sz="1200" b="0" strike="noStrike" spc="-1">
              <a:latin typeface="Arial"/>
            </a:endParaRPr>
          </a:p>
        </p:txBody>
      </p:sp>
      <p:sp>
        <p:nvSpPr>
          <p:cNvPr id="110" name="PlaceHolder 2"/>
          <p:cNvSpPr>
            <a:spLocks noGrp="1"/>
          </p:cNvSpPr>
          <p:nvPr>
            <p:ph type="subTitle"/>
          </p:nvPr>
        </p:nvSpPr>
        <p:spPr>
          <a:xfrm>
            <a:off x="504000" y="1324800"/>
            <a:ext cx="9071640" cy="3292200"/>
          </a:xfrm>
          <a:prstGeom prst="rect">
            <a:avLst/>
          </a:prstGeom>
          <a:noFill/>
          <a:ln w="0">
            <a:noFill/>
          </a:ln>
        </p:spPr>
        <p:txBody>
          <a:bodyPr lIns="0" tIns="0" rIns="0" bIns="0" anchor="ctr">
            <a:noAutofit/>
          </a:bodyPr>
          <a:lstStyle/>
          <a:p>
            <a:pPr algn="ctr">
              <a:buNone/>
            </a:pPr>
            <a:r>
              <a:rPr lang="en-GB" sz="2600" b="1" strike="noStrike" spc="-1">
                <a:solidFill>
                  <a:srgbClr val="000000"/>
                </a:solidFill>
                <a:latin typeface="Times New Roman"/>
              </a:rPr>
              <a:t>Technology Acceptance Model (TAM)</a:t>
            </a:r>
            <a:br>
              <a:rPr sz="2600"/>
            </a:br>
            <a:r>
              <a:rPr lang="en-GB" sz="2600" b="0" strike="noStrike" spc="-1">
                <a:solidFill>
                  <a:srgbClr val="000000"/>
                </a:solidFill>
                <a:latin typeface="Times New Roman"/>
              </a:rPr>
              <a:t>Davis (1989) proposed TAM as a framework for understanding user acceptance of information systems. The model suggests that perceived usefulness and perceived ease of use determine behavioural intention to use a system. For BAMS:</a:t>
            </a:r>
            <a:endParaRPr lang="en-GB" sz="2600" b="0" strike="noStrike" spc="-1">
              <a:latin typeface="Arial"/>
            </a:endParaRPr>
          </a:p>
          <a:p>
            <a:pPr algn="ctr">
              <a:buNone/>
            </a:pPr>
            <a:r>
              <a:rPr lang="en-GB" sz="2600" b="1" strike="noStrike" spc="-1">
                <a:solidFill>
                  <a:srgbClr val="000000"/>
                </a:solidFill>
                <a:latin typeface="Times New Roman"/>
              </a:rPr>
              <a:t>Perceived Usefulness</a:t>
            </a:r>
            <a:r>
              <a:rPr lang="en-GB" sz="2600" b="0" strike="noStrike" spc="-1">
                <a:solidFill>
                  <a:srgbClr val="000000"/>
                </a:solidFill>
                <a:latin typeface="Times New Roman"/>
              </a:rPr>
              <a:t>: Time savings, accuracy, reporting capabilities</a:t>
            </a:r>
            <a:endParaRPr lang="en-GB" sz="2600" b="0" strike="noStrike" spc="-1">
              <a:latin typeface="Arial"/>
            </a:endParaRPr>
          </a:p>
          <a:p>
            <a:pPr algn="ctr">
              <a:buNone/>
            </a:pPr>
            <a:r>
              <a:rPr lang="en-GB" sz="2600" b="1" strike="noStrike" spc="-1">
                <a:solidFill>
                  <a:srgbClr val="000000"/>
                </a:solidFill>
                <a:latin typeface="Times New Roman"/>
              </a:rPr>
              <a:t>Perceived Ease of Use</a:t>
            </a:r>
            <a:r>
              <a:rPr lang="en-GB" sz="2600" b="0" strike="noStrike" spc="-1">
                <a:solidFill>
                  <a:srgbClr val="000000"/>
                </a:solidFill>
                <a:latin typeface="Times New Roman"/>
              </a:rPr>
              <a:t>: Intuitive interfaces, minimal training requirements</a:t>
            </a:r>
            <a:endParaRPr lang="en-GB" sz="2600" b="0" strike="noStrike" spc="-1">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112" name="PlaceHolder 2"/>
          <p:cNvSpPr>
            <a:spLocks noGrp="1"/>
          </p:cNvSpPr>
          <p:nvPr>
            <p:ph type="subTitle"/>
          </p:nvPr>
        </p:nvSpPr>
        <p:spPr>
          <a:xfrm>
            <a:off x="504000" y="36360"/>
            <a:ext cx="9071640" cy="5869080"/>
          </a:xfrm>
          <a:prstGeom prst="rect">
            <a:avLst/>
          </a:prstGeom>
          <a:noFill/>
          <a:ln w="0">
            <a:noFill/>
          </a:ln>
        </p:spPr>
        <p:txBody>
          <a:bodyPr lIns="0" tIns="0" rIns="0" bIns="0" anchor="ctr">
            <a:noAutofit/>
          </a:bodyPr>
          <a:lstStyle/>
          <a:p>
            <a:pPr algn="ctr">
              <a:buNone/>
            </a:pPr>
            <a:r>
              <a:rPr lang="en-GB" sz="3200" b="1" strike="noStrike" spc="-1">
                <a:solidFill>
                  <a:srgbClr val="000000"/>
                </a:solidFill>
                <a:latin typeface="Times New Roman"/>
              </a:rPr>
              <a:t>Unified Theory of Acceptance and Use of Technology (UTAUT)</a:t>
            </a:r>
            <a:br>
              <a:rPr sz="3200"/>
            </a:br>
            <a:r>
              <a:rPr lang="en-GB" sz="3200" b="0" strike="noStrike" spc="-1">
                <a:solidFill>
                  <a:srgbClr val="000000"/>
                </a:solidFill>
                <a:latin typeface="Times New Roman"/>
              </a:rPr>
              <a:t>Venkatesh et al. (2003) expanded TAM to include social influence and facilitating conditions. For BAMS implementation:</a:t>
            </a:r>
            <a:endParaRPr lang="en-GB" sz="3200" b="0" strike="noStrike" spc="-1">
              <a:latin typeface="Arial"/>
            </a:endParaRPr>
          </a:p>
          <a:p>
            <a:pPr algn="ctr">
              <a:buNone/>
            </a:pPr>
            <a:r>
              <a:rPr lang="en-GB" sz="3200" b="1" strike="noStrike" spc="-1">
                <a:solidFill>
                  <a:srgbClr val="000000"/>
                </a:solidFill>
                <a:latin typeface="Times New Roman"/>
              </a:rPr>
              <a:t>Performance Expectancy</a:t>
            </a:r>
            <a:r>
              <a:rPr lang="en-GB" sz="3200" b="0" strike="noStrike" spc="-1">
                <a:solidFill>
                  <a:srgbClr val="000000"/>
                </a:solidFill>
                <a:latin typeface="Times New Roman"/>
              </a:rPr>
              <a:t>: How well the system improves attendance tracking</a:t>
            </a:r>
            <a:endParaRPr lang="en-GB" sz="3200" b="0" strike="noStrike" spc="-1">
              <a:latin typeface="Arial"/>
            </a:endParaRPr>
          </a:p>
          <a:p>
            <a:pPr algn="ctr">
              <a:buNone/>
            </a:pPr>
            <a:r>
              <a:rPr lang="en-GB" sz="3200" b="1" strike="noStrike" spc="-1">
                <a:solidFill>
                  <a:srgbClr val="000000"/>
                </a:solidFill>
                <a:latin typeface="Times New Roman"/>
              </a:rPr>
              <a:t>Effort Expectancy</a:t>
            </a:r>
            <a:r>
              <a:rPr lang="en-GB" sz="3200" b="0" strike="noStrike" spc="-1">
                <a:solidFill>
                  <a:srgbClr val="000000"/>
                </a:solidFill>
                <a:latin typeface="Times New Roman"/>
              </a:rPr>
              <a:t>: Ease of learning and using the system</a:t>
            </a:r>
            <a:endParaRPr lang="en-GB" sz="3200" b="0" strike="noStrike" spc="-1">
              <a:latin typeface="Arial"/>
            </a:endParaRPr>
          </a:p>
          <a:p>
            <a:pPr algn="ctr">
              <a:buNone/>
            </a:pPr>
            <a:r>
              <a:rPr lang="en-GB" sz="3200" b="1" strike="noStrike" spc="-1">
                <a:solidFill>
                  <a:srgbClr val="000000"/>
                </a:solidFill>
                <a:latin typeface="Times New Roman"/>
              </a:rPr>
              <a:t>Social Influence</a:t>
            </a:r>
            <a:r>
              <a:rPr lang="en-GB" sz="3200" b="0" strike="noStrike" spc="-1">
                <a:solidFill>
                  <a:srgbClr val="000000"/>
                </a:solidFill>
                <a:latin typeface="Times New Roman"/>
              </a:rPr>
              <a:t>: Institutional policies and peer adoption</a:t>
            </a:r>
            <a:endParaRPr lang="en-GB" sz="3200" b="0" strike="noStrike" spc="-1">
              <a:latin typeface="Arial"/>
            </a:endParaRPr>
          </a:p>
          <a:p>
            <a:pPr algn="ctr">
              <a:buNone/>
            </a:pPr>
            <a:r>
              <a:rPr lang="en-GB" sz="3200" b="1" strike="noStrike" spc="-1">
                <a:solidFill>
                  <a:srgbClr val="000000"/>
                </a:solidFill>
                <a:latin typeface="Times New Roman"/>
              </a:rPr>
              <a:t>Facilitating Conditions</a:t>
            </a:r>
            <a:r>
              <a:rPr lang="en-GB" sz="3200" b="0" strike="noStrike" spc="-1">
                <a:solidFill>
                  <a:srgbClr val="000000"/>
                </a:solidFill>
                <a:latin typeface="Times New Roman"/>
              </a:rPr>
              <a:t>: Technical infrastructure and support</a:t>
            </a:r>
            <a:endParaRPr lang="en-GB" sz="3200" b="0" strike="noStrike" spc="-1">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14" name="PlaceHolder 2"/>
          <p:cNvSpPr>
            <a:spLocks noGrp="1"/>
          </p:cNvSpPr>
          <p:nvPr>
            <p:ph type="subTitle"/>
          </p:nvPr>
        </p:nvSpPr>
        <p:spPr>
          <a:xfrm>
            <a:off x="504000" y="1326240"/>
            <a:ext cx="9071640" cy="3288240"/>
          </a:xfrm>
          <a:prstGeom prst="rect">
            <a:avLst/>
          </a:prstGeom>
          <a:noFill/>
          <a:ln w="0">
            <a:noFill/>
          </a:ln>
        </p:spPr>
        <p:txBody>
          <a:bodyPr lIns="0" tIns="0" rIns="0" bIns="0" anchor="ctr">
            <a:noAutofit/>
          </a:bodyPr>
          <a:lstStyle/>
          <a:p>
            <a:pPr algn="ctr">
              <a:buNone/>
            </a:pPr>
            <a:r>
              <a:rPr lang="en-GB" sz="2500" b="1" strike="noStrike" spc="-1">
                <a:solidFill>
                  <a:srgbClr val="000000"/>
                </a:solidFill>
                <a:latin typeface="Times New Roman"/>
              </a:rPr>
              <a:t>Unified Theory of Acceptance and Use of Technology (UTAUT)</a:t>
            </a:r>
            <a:br>
              <a:rPr sz="2500"/>
            </a:br>
            <a:r>
              <a:rPr lang="en-GB" sz="2500" b="0" strike="noStrike" spc="-1">
                <a:solidFill>
                  <a:srgbClr val="000000"/>
                </a:solidFill>
                <a:latin typeface="Times New Roman"/>
              </a:rPr>
              <a:t>Venkatesh et al. (2003) expanded TAM to include social influence and facilitating conditions. For BAMS implementation:</a:t>
            </a:r>
            <a:endParaRPr lang="en-GB" sz="2500" b="0" strike="noStrike" spc="-1">
              <a:latin typeface="Arial"/>
            </a:endParaRPr>
          </a:p>
          <a:p>
            <a:pPr algn="ctr">
              <a:buNone/>
            </a:pPr>
            <a:r>
              <a:rPr lang="en-GB" sz="2500" b="1" strike="noStrike" spc="-1">
                <a:solidFill>
                  <a:srgbClr val="000000"/>
                </a:solidFill>
                <a:latin typeface="Times New Roman"/>
              </a:rPr>
              <a:t>Performance Expectancy</a:t>
            </a:r>
            <a:r>
              <a:rPr lang="en-GB" sz="2500" b="0" strike="noStrike" spc="-1">
                <a:solidFill>
                  <a:srgbClr val="000000"/>
                </a:solidFill>
                <a:latin typeface="Times New Roman"/>
              </a:rPr>
              <a:t>: How well the system improves attendance tracking</a:t>
            </a:r>
            <a:endParaRPr lang="en-GB" sz="2500" b="0" strike="noStrike" spc="-1">
              <a:latin typeface="Arial"/>
            </a:endParaRPr>
          </a:p>
          <a:p>
            <a:pPr algn="ctr">
              <a:buNone/>
            </a:pPr>
            <a:r>
              <a:rPr lang="en-GB" sz="2500" b="1" strike="noStrike" spc="-1">
                <a:solidFill>
                  <a:srgbClr val="000000"/>
                </a:solidFill>
                <a:latin typeface="Times New Roman"/>
              </a:rPr>
              <a:t>Effort Expectancy</a:t>
            </a:r>
            <a:r>
              <a:rPr lang="en-GB" sz="2500" b="0" strike="noStrike" spc="-1">
                <a:solidFill>
                  <a:srgbClr val="000000"/>
                </a:solidFill>
                <a:latin typeface="Times New Roman"/>
              </a:rPr>
              <a:t>: Ease of learning and using the system</a:t>
            </a:r>
            <a:endParaRPr lang="en-GB" sz="2500" b="0" strike="noStrike" spc="-1">
              <a:latin typeface="Arial"/>
            </a:endParaRPr>
          </a:p>
          <a:p>
            <a:pPr algn="ctr">
              <a:buNone/>
            </a:pPr>
            <a:r>
              <a:rPr lang="en-GB" sz="2500" b="1" strike="noStrike" spc="-1">
                <a:solidFill>
                  <a:srgbClr val="000000"/>
                </a:solidFill>
                <a:latin typeface="Times New Roman"/>
              </a:rPr>
              <a:t>Social Influence</a:t>
            </a:r>
            <a:r>
              <a:rPr lang="en-GB" sz="2500" b="0" strike="noStrike" spc="-1">
                <a:solidFill>
                  <a:srgbClr val="000000"/>
                </a:solidFill>
                <a:latin typeface="Times New Roman"/>
              </a:rPr>
              <a:t>: Institutional policies and peer adoption</a:t>
            </a:r>
            <a:endParaRPr lang="en-GB" sz="2500" b="0" strike="noStrike" spc="-1">
              <a:latin typeface="Arial"/>
            </a:endParaRPr>
          </a:p>
          <a:p>
            <a:pPr algn="ctr">
              <a:buNone/>
            </a:pPr>
            <a:r>
              <a:rPr lang="en-GB" sz="2500" b="1" strike="noStrike" spc="-1">
                <a:solidFill>
                  <a:srgbClr val="000000"/>
                </a:solidFill>
                <a:latin typeface="Times New Roman"/>
              </a:rPr>
              <a:t>Facilitating Conditions</a:t>
            </a:r>
            <a:r>
              <a:rPr lang="en-GB" sz="2500" b="0" strike="noStrike" spc="-1">
                <a:solidFill>
                  <a:srgbClr val="000000"/>
                </a:solidFill>
                <a:latin typeface="Times New Roman"/>
              </a:rPr>
              <a:t>: Technical infrastructure and support</a:t>
            </a:r>
            <a:endParaRPr lang="en-GB" sz="2500" b="0" strike="noStrike" spc="-1">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SWOT Analysis of Current Solutions</a:t>
            </a:r>
            <a:endParaRPr lang="en-GB" sz="1200" b="0" strike="noStrike" spc="-1">
              <a:latin typeface="Arial"/>
            </a:endParaRPr>
          </a:p>
        </p:txBody>
      </p:sp>
      <p:sp>
        <p:nvSpPr>
          <p:cNvPr id="11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Strengths:</a:t>
            </a:r>
          </a:p>
          <a:p>
            <a:pPr algn="ctr">
              <a:buNone/>
            </a:pPr>
            <a:r>
              <a:rPr lang="en-GB" sz="3200" b="0" strike="noStrike" spc="-1">
                <a:latin typeface="Arial"/>
              </a:rPr>
              <a:t>Automation reduces manual effort</a:t>
            </a:r>
          </a:p>
          <a:p>
            <a:pPr algn="ctr">
              <a:buNone/>
            </a:pPr>
            <a:r>
              <a:rPr lang="en-GB" sz="3200" b="0" strike="noStrike" spc="-1">
                <a:latin typeface="Arial"/>
              </a:rPr>
              <a:t>Digital records are easily searchable and analysable</a:t>
            </a:r>
          </a:p>
          <a:p>
            <a:pPr algn="ctr">
              <a:buNone/>
            </a:pPr>
            <a:r>
              <a:rPr lang="en-GB" sz="3200" b="0" strike="noStrike" spc="-1">
                <a:latin typeface="Arial"/>
              </a:rPr>
              <a:t>Real-time data availability</a:t>
            </a:r>
          </a:p>
          <a:p>
            <a:pPr algn="ctr">
              <a:buNone/>
            </a:pPr>
            <a:r>
              <a:rPr lang="en-GB" sz="3200" b="0" strike="noStrike" spc="-1">
                <a:latin typeface="Arial"/>
              </a:rPr>
              <a:t>Integration potential with other systems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18"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Weaknesses:</a:t>
            </a:r>
          </a:p>
          <a:p>
            <a:pPr algn="ctr">
              <a:buNone/>
            </a:pPr>
            <a:r>
              <a:rPr lang="en-GB" sz="3200" b="0" strike="noStrike" spc="-1">
                <a:latin typeface="Arial"/>
              </a:rPr>
              <a:t>High initial implementation costs</a:t>
            </a:r>
          </a:p>
          <a:p>
            <a:pPr algn="ctr">
              <a:buNone/>
            </a:pPr>
            <a:r>
              <a:rPr lang="en-GB" sz="3200" b="0" strike="noStrike" spc="-1">
                <a:latin typeface="Arial"/>
              </a:rPr>
              <a:t>Privacy concerns with biometric data</a:t>
            </a:r>
          </a:p>
          <a:p>
            <a:pPr algn="ctr">
              <a:buNone/>
            </a:pPr>
            <a:r>
              <a:rPr lang="en-GB" sz="3200" b="0" strike="noStrike" spc="-1">
                <a:latin typeface="Arial"/>
              </a:rPr>
              <a:t>Technical issues with recognition accuracy</a:t>
            </a:r>
          </a:p>
          <a:p>
            <a:pPr algn="ctr">
              <a:buNone/>
            </a:pPr>
            <a:r>
              <a:rPr lang="en-GB" sz="3200" b="0" strike="noStrike" spc="-1">
                <a:latin typeface="Arial"/>
              </a:rPr>
              <a:t>Resistance to change from users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20"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Opportunities:</a:t>
            </a:r>
          </a:p>
          <a:p>
            <a:pPr algn="ctr">
              <a:buNone/>
            </a:pPr>
            <a:r>
              <a:rPr lang="en-GB" sz="3200" b="0" strike="noStrike" spc="-1">
                <a:latin typeface="Arial"/>
              </a:rPr>
              <a:t>Mobile technology integration</a:t>
            </a:r>
          </a:p>
          <a:p>
            <a:pPr algn="ctr">
              <a:buNone/>
            </a:pPr>
            <a:r>
              <a:rPr lang="en-GB" sz="3200" b="0" strike="noStrike" spc="-1">
                <a:latin typeface="Arial"/>
              </a:rPr>
              <a:t>Cloud-based deployment options</a:t>
            </a:r>
          </a:p>
          <a:p>
            <a:pPr algn="ctr">
              <a:buNone/>
            </a:pPr>
            <a:r>
              <a:rPr lang="en-GB" sz="3200" b="0" strike="noStrike" spc="-1">
                <a:latin typeface="Arial"/>
              </a:rPr>
              <a:t>Advanced analytics and predictive capabilities</a:t>
            </a:r>
          </a:p>
          <a:p>
            <a:pPr algn="ctr">
              <a:buNone/>
            </a:pPr>
            <a:r>
              <a:rPr lang="en-GB" sz="3200" b="0" strike="noStrike" spc="-1">
                <a:latin typeface="Arial"/>
              </a:rPr>
              <a:t>Integration with AI for behavioural analysis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22"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Threats:</a:t>
            </a:r>
          </a:p>
          <a:p>
            <a:pPr algn="ctr">
              <a:buNone/>
            </a:pPr>
            <a:r>
              <a:rPr lang="en-GB" sz="3200" b="0" strike="noStrike" spc="-1">
                <a:latin typeface="Arial"/>
              </a:rPr>
              <a:t>Data security and privacy regulations</a:t>
            </a:r>
          </a:p>
          <a:p>
            <a:pPr algn="ctr">
              <a:buNone/>
            </a:pPr>
            <a:r>
              <a:rPr lang="en-GB" sz="3200" b="0" strike="noStrike" spc="-1">
                <a:latin typeface="Arial"/>
              </a:rPr>
              <a:t>System reliability concerns</a:t>
            </a:r>
          </a:p>
          <a:p>
            <a:pPr algn="ctr">
              <a:buNone/>
            </a:pPr>
            <a:r>
              <a:rPr lang="en-GB" sz="3200" b="0" strike="noStrike" spc="-1">
                <a:latin typeface="Arial"/>
              </a:rPr>
              <a:t>Cultural resistance to biometrics</a:t>
            </a:r>
          </a:p>
          <a:p>
            <a:pPr algn="ctr">
              <a:buNone/>
            </a:pPr>
            <a:r>
              <a:rPr lang="en-GB" sz="3200" b="0" strike="noStrike" spc="-1">
                <a:latin typeface="Arial"/>
              </a:rPr>
              <a:t>Technical obsolescence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Summary and Research Gap</a:t>
            </a:r>
            <a:endParaRPr lang="en-GB" sz="1200" b="0" strike="noStrike" spc="-1">
              <a:latin typeface="Arial"/>
            </a:endParaRPr>
          </a:p>
        </p:txBody>
      </p:sp>
      <p:sp>
        <p:nvSpPr>
          <p:cNvPr id="124"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Current Limitations in Existing Systems</a:t>
            </a:r>
          </a:p>
          <a:p>
            <a:pPr algn="ctr">
              <a:buNone/>
            </a:pPr>
            <a:r>
              <a:rPr lang="en-GB" sz="3200" b="0" strike="noStrike" spc="-1">
                <a:latin typeface="Arial"/>
              </a:rPr>
              <a:t>Based on the literature review and analysis of the provided interfaces, several gaps have been identified: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26" name="PlaceHolder 2"/>
          <p:cNvSpPr>
            <a:spLocks noGrp="1"/>
          </p:cNvSpPr>
          <p:nvPr>
            <p:ph type="subTitle"/>
          </p:nvPr>
        </p:nvSpPr>
        <p:spPr>
          <a:xfrm>
            <a:off x="504000" y="1326240"/>
            <a:ext cx="9071640" cy="3288240"/>
          </a:xfrm>
          <a:prstGeom prst="rect">
            <a:avLst/>
          </a:prstGeom>
          <a:noFill/>
          <a:ln w="0">
            <a:noFill/>
          </a:ln>
        </p:spPr>
        <p:txBody>
          <a:bodyPr lIns="0" tIns="0" rIns="0" bIns="0" anchor="ctr">
            <a:noAutofit/>
          </a:bodyPr>
          <a:lstStyle/>
          <a:p>
            <a:pPr algn="ctr">
              <a:buNone/>
            </a:pPr>
            <a:r>
              <a:rPr lang="en-GB" sz="2000" b="1" strike="noStrike" spc="-1">
                <a:solidFill>
                  <a:srgbClr val="000000"/>
                </a:solidFill>
                <a:latin typeface="Times New Roman"/>
              </a:rPr>
              <a:t>Limited Integration of Multiple User Needs</a:t>
            </a:r>
            <a:r>
              <a:rPr lang="en-GB" sz="2000" b="0" strike="noStrike" spc="-1">
                <a:solidFill>
                  <a:srgbClr val="000000"/>
                </a:solidFill>
                <a:latin typeface="Times New Roman"/>
              </a:rPr>
              <a:t>: Most systems focus on either lecturer needs (as seen in the AttendanceHub interface) or administrative requirements, but few seamlessly integrate perspectives of lecturers, students, and administrators.</a:t>
            </a:r>
            <a:endParaRPr lang="en-GB" sz="2000" b="0" strike="noStrike" spc="-1">
              <a:latin typeface="Arial"/>
            </a:endParaRPr>
          </a:p>
          <a:p>
            <a:pPr algn="ctr">
              <a:buNone/>
            </a:pPr>
            <a:r>
              <a:rPr lang="en-GB" sz="2000" b="1" strike="noStrike" spc="-1">
                <a:solidFill>
                  <a:srgbClr val="000000"/>
                </a:solidFill>
                <a:latin typeface="Times New Roman"/>
              </a:rPr>
              <a:t>Inadequate Biometric Accuracy in Varied Conditions</a:t>
            </a:r>
            <a:r>
              <a:rPr lang="en-GB" sz="2000" b="0" strike="noStrike" spc="-1">
                <a:solidFill>
                  <a:srgbClr val="000000"/>
                </a:solidFill>
                <a:latin typeface="Times New Roman"/>
              </a:rPr>
              <a:t>: Current systems often fail in real classroom environments with variable lighting, angles, and student movement patterns.</a:t>
            </a:r>
            <a:endParaRPr lang="en-GB" sz="2000" b="0" strike="noStrike" spc="-1">
              <a:latin typeface="Arial"/>
            </a:endParaRPr>
          </a:p>
          <a:p>
            <a:pPr algn="ctr">
              <a:buNone/>
            </a:pPr>
            <a:r>
              <a:rPr lang="en-GB" sz="2000" b="1" strike="noStrike" spc="-1">
                <a:solidFill>
                  <a:srgbClr val="000000"/>
                </a:solidFill>
                <a:latin typeface="Times New Roman"/>
              </a:rPr>
              <a:t>Poor User Experience Design</a:t>
            </a:r>
            <a:r>
              <a:rPr lang="en-GB" sz="2000" b="0" strike="noStrike" spc="-1">
                <a:solidFill>
                  <a:srgbClr val="000000"/>
                </a:solidFill>
                <a:latin typeface="Times New Roman"/>
              </a:rPr>
              <a:t>: Many biometric systems prioritise functionality over usability, leading to low adoption rates. The provided interfaces show promising design elements but lack comprehensive user testing documentation.</a:t>
            </a:r>
            <a:endParaRPr lang="en-GB" sz="2000" b="0" strike="noStrike" spc="-1">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28" name="PlaceHolder 2"/>
          <p:cNvSpPr>
            <a:spLocks noGrp="1"/>
          </p:cNvSpPr>
          <p:nvPr>
            <p:ph type="subTitle"/>
          </p:nvPr>
        </p:nvSpPr>
        <p:spPr>
          <a:xfrm>
            <a:off x="504000" y="1324800"/>
            <a:ext cx="9071640" cy="3292200"/>
          </a:xfrm>
          <a:prstGeom prst="rect">
            <a:avLst/>
          </a:prstGeom>
          <a:noFill/>
          <a:ln w="0">
            <a:noFill/>
          </a:ln>
        </p:spPr>
        <p:txBody>
          <a:bodyPr lIns="0" tIns="0" rIns="0" bIns="0" anchor="ctr">
            <a:noAutofit/>
          </a:bodyPr>
          <a:lstStyle/>
          <a:p>
            <a:pPr algn="ctr">
              <a:buNone/>
            </a:pPr>
            <a:r>
              <a:rPr lang="en-GB" sz="2600" b="1" strike="noStrike" spc="-1">
                <a:solidFill>
                  <a:srgbClr val="000000"/>
                </a:solidFill>
                <a:latin typeface="Times New Roman"/>
              </a:rPr>
              <a:t>Limited Scalability Documentation</a:t>
            </a:r>
            <a:r>
              <a:rPr lang="en-GB" sz="2600" b="0" strike="noStrike" spc="-1">
                <a:solidFill>
                  <a:srgbClr val="000000"/>
                </a:solidFill>
                <a:latin typeface="Times New Roman"/>
              </a:rPr>
              <a:t>: Few studies provide detailed scalability frameworks for institutions with growing student populations like Bugema University.</a:t>
            </a:r>
            <a:endParaRPr lang="en-GB" sz="2600" b="0" strike="noStrike" spc="-1">
              <a:latin typeface="Arial"/>
            </a:endParaRPr>
          </a:p>
          <a:p>
            <a:pPr algn="ctr">
              <a:buNone/>
            </a:pPr>
            <a:r>
              <a:rPr lang="en-GB" sz="2600" b="1" strike="noStrike" spc="-1">
                <a:solidFill>
                  <a:srgbClr val="000000"/>
                </a:solidFill>
                <a:latin typeface="Times New Roman"/>
              </a:rPr>
              <a:t>Insufficient Privacy-Preserving Techniques</a:t>
            </a:r>
            <a:r>
              <a:rPr lang="en-GB" sz="2600" b="0" strike="noStrike" spc="-1">
                <a:solidFill>
                  <a:srgbClr val="000000"/>
                </a:solidFill>
                <a:latin typeface="Times New Roman"/>
              </a:rPr>
              <a:t>: Most commercial systems store biometric templates with inadequate encryption, raising GDPR compliance concerns.</a:t>
            </a:r>
            <a:endParaRPr lang="en-GB" sz="2600" b="0" strike="noStrike" spc="-1">
              <a:latin typeface="Arial"/>
            </a:endParaRPr>
          </a:p>
          <a:p>
            <a:pPr algn="ctr">
              <a:buNone/>
            </a:pPr>
            <a:r>
              <a:rPr lang="en-GB" sz="2600" b="1" strike="noStrike" spc="-1">
                <a:solidFill>
                  <a:srgbClr val="000000"/>
                </a:solidFill>
                <a:latin typeface="Times New Roman"/>
              </a:rPr>
              <a:t>Lack of Predictive Analytics</a:t>
            </a:r>
            <a:r>
              <a:rPr lang="en-GB" sz="2600" b="0" strike="noStrike" spc="-1">
                <a:solidFill>
                  <a:srgbClr val="000000"/>
                </a:solidFill>
                <a:latin typeface="Times New Roman"/>
              </a:rPr>
              <a:t>: Current systems primarily focus on recording attendance rather than analysing patterns to predict student performance or identify at-risk students.</a:t>
            </a:r>
            <a:endParaRPr lang="en-GB" sz="26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Research Gap Addressed by This Project</a:t>
            </a:r>
            <a:endParaRPr lang="en-GB" sz="1200" b="0" strike="noStrike" spc="-1">
              <a:latin typeface="Arial"/>
            </a:endParaRPr>
          </a:p>
        </p:txBody>
      </p:sp>
      <p:sp>
        <p:nvSpPr>
          <p:cNvPr id="130"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latin typeface="Arial"/>
              </a:rPr>
              <a:t>This project specifically addresses the following gaps:</a:t>
            </a:r>
          </a:p>
          <a:p>
            <a:pPr algn="ctr">
              <a:buNone/>
            </a:pPr>
            <a:r>
              <a:rPr lang="en-GB" sz="3200" b="1" strike="noStrike" spc="-1">
                <a:solidFill>
                  <a:srgbClr val="000000"/>
                </a:solidFill>
                <a:latin typeface="Times New Roman"/>
              </a:rPr>
              <a:t>Integrated Multi-Role System Design</a:t>
            </a:r>
            <a:r>
              <a:rPr lang="en-GB" sz="3200" b="0" strike="noStrike" spc="-1">
                <a:solidFill>
                  <a:srgbClr val="000000"/>
                </a:solidFill>
                <a:latin typeface="Times New Roman"/>
              </a:rPr>
              <a:t>: The proposed BAMS incorporates distinct but interconnected interfaces for lecturers (as shown in "AttendanceHub Lecturer Portal"), students (registration interface), and administrators, ensuring all stakeholder needs are met.</a:t>
            </a:r>
            <a:endParaRPr lang="en-GB" sz="3200" b="0" strike="noStrike" spc="-1">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32" name="PlaceHolder 2"/>
          <p:cNvSpPr>
            <a:spLocks noGrp="1"/>
          </p:cNvSpPr>
          <p:nvPr>
            <p:ph type="subTitle"/>
          </p:nvPr>
        </p:nvSpPr>
        <p:spPr>
          <a:xfrm>
            <a:off x="504000" y="1141920"/>
            <a:ext cx="9071640" cy="3657960"/>
          </a:xfrm>
          <a:prstGeom prst="rect">
            <a:avLst/>
          </a:prstGeom>
          <a:noFill/>
          <a:ln w="0">
            <a:noFill/>
          </a:ln>
        </p:spPr>
        <p:txBody>
          <a:bodyPr lIns="0" tIns="0" rIns="0" bIns="0" anchor="ctr">
            <a:noAutofit/>
          </a:bodyPr>
          <a:lstStyle/>
          <a:p>
            <a:pPr algn="ctr">
              <a:buNone/>
            </a:pPr>
            <a:r>
              <a:rPr lang="en-GB" sz="2600" b="1" strike="noStrike" spc="-1">
                <a:solidFill>
                  <a:srgbClr val="000000"/>
                </a:solidFill>
                <a:latin typeface="Times New Roman"/>
              </a:rPr>
              <a:t>Robust Biometric Implementation</a:t>
            </a:r>
            <a:r>
              <a:rPr lang="en-GB" sz="2600" b="0" strike="noStrike" spc="-1">
                <a:solidFill>
                  <a:srgbClr val="000000"/>
                </a:solidFill>
                <a:latin typeface="Times New Roman"/>
              </a:rPr>
              <a:t>: Unlike systems that rely on single biometric modalities, this project implements adaptive facial recognition that adjusts to classroom conditions, as suggested by the need for profile photos in student registration.</a:t>
            </a:r>
            <a:endParaRPr lang="en-GB" sz="2600" b="0" strike="noStrike" spc="-1">
              <a:latin typeface="Arial"/>
            </a:endParaRPr>
          </a:p>
          <a:p>
            <a:pPr algn="ctr">
              <a:buNone/>
            </a:pPr>
            <a:r>
              <a:rPr lang="en-GB" sz="2600" b="1" strike="noStrike" spc="-1">
                <a:solidFill>
                  <a:srgbClr val="000000"/>
                </a:solidFill>
                <a:latin typeface="Times New Roman"/>
              </a:rPr>
              <a:t>User-Centered Design Approach</a:t>
            </a:r>
            <a:r>
              <a:rPr lang="en-GB" sz="2600" b="0" strike="noStrike" spc="-1">
                <a:solidFill>
                  <a:srgbClr val="000000"/>
                </a:solidFill>
                <a:latin typeface="Times New Roman"/>
              </a:rPr>
              <a:t>: The interface analysis reveals attention to user experience, but this project extends this with comprehensive usability testing and iterative design improvements.</a:t>
            </a:r>
            <a:endParaRPr lang="en-GB" sz="2600" b="0" strike="noStrike" spc="-1">
              <a:latin typeface="Arial"/>
            </a:endParaRPr>
          </a:p>
          <a:p>
            <a:pPr algn="ctr">
              <a:buNone/>
            </a:pPr>
            <a:r>
              <a:rPr lang="en-GB" sz="2600" b="1" strike="noStrike" spc="-1">
                <a:solidFill>
                  <a:srgbClr val="000000"/>
                </a:solidFill>
                <a:latin typeface="Times New Roman"/>
              </a:rPr>
              <a:t>Scalable Architecture</a:t>
            </a:r>
            <a:r>
              <a:rPr lang="en-GB" sz="2600" b="0" strike="noStrike" spc="-1">
                <a:solidFill>
                  <a:srgbClr val="000000"/>
                </a:solidFill>
                <a:latin typeface="Times New Roman"/>
              </a:rPr>
              <a:t>: The system design incorporates cloud-ready architecture that can scale with Bugema University's growing enrollment from current levels to projected future requirements.</a:t>
            </a:r>
            <a:endParaRPr lang="en-GB" sz="2600" b="0" strike="noStrike" spc="-1">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
        <p:nvSpPr>
          <p:cNvPr id="134" name="PlaceHolder 2"/>
          <p:cNvSpPr>
            <a:spLocks noGrp="1"/>
          </p:cNvSpPr>
          <p:nvPr>
            <p:ph type="subTitle"/>
          </p:nvPr>
        </p:nvSpPr>
        <p:spPr>
          <a:xfrm>
            <a:off x="504000" y="1217520"/>
            <a:ext cx="9071640" cy="3506760"/>
          </a:xfrm>
          <a:prstGeom prst="rect">
            <a:avLst/>
          </a:prstGeom>
          <a:noFill/>
          <a:ln w="0">
            <a:noFill/>
          </a:ln>
        </p:spPr>
        <p:txBody>
          <a:bodyPr lIns="0" tIns="0" rIns="0" bIns="0" anchor="ctr">
            <a:noAutofit/>
          </a:bodyPr>
          <a:lstStyle/>
          <a:p>
            <a:pPr algn="ctr">
              <a:buNone/>
            </a:pPr>
            <a:r>
              <a:rPr lang="en-GB" sz="2500" b="1" strike="noStrike" spc="-1">
                <a:solidFill>
                  <a:srgbClr val="000000"/>
                </a:solidFill>
                <a:latin typeface="Times New Roman"/>
              </a:rPr>
              <a:t>Privacy by Design</a:t>
            </a:r>
            <a:r>
              <a:rPr lang="en-GB" sz="2500" b="0" strike="noStrike" spc="-1">
                <a:solidFill>
                  <a:srgbClr val="000000"/>
                </a:solidFill>
                <a:latin typeface="Times New Roman"/>
              </a:rPr>
              <a:t>: Implementation of encrypted biometric templates and compliance with data protection regulations addresses privacy concerns identified in literature.</a:t>
            </a:r>
            <a:endParaRPr lang="en-GB" sz="2500" b="0" strike="noStrike" spc="-1">
              <a:latin typeface="Arial"/>
            </a:endParaRPr>
          </a:p>
          <a:p>
            <a:pPr algn="ctr">
              <a:buNone/>
            </a:pPr>
            <a:r>
              <a:rPr lang="en-GB" sz="2500" b="1" strike="noStrike" spc="-1">
                <a:solidFill>
                  <a:srgbClr val="000000"/>
                </a:solidFill>
                <a:latin typeface="Times New Roman"/>
              </a:rPr>
              <a:t>Analytics Integration</a:t>
            </a:r>
            <a:r>
              <a:rPr lang="en-GB" sz="2500" b="0" strike="noStrike" spc="-1">
                <a:solidFill>
                  <a:srgbClr val="000000"/>
                </a:solidFill>
                <a:latin typeface="Times New Roman"/>
              </a:rPr>
              <a:t>: Beyond basic reporting (shown in attendance percentage displays), the system includes predictive analytics for identifying attendance patterns and potential interventions.</a:t>
            </a:r>
            <a:endParaRPr lang="en-GB" sz="2500" b="0" strike="noStrike" spc="-1">
              <a:latin typeface="Arial"/>
            </a:endParaRPr>
          </a:p>
          <a:p>
            <a:pPr algn="ctr">
              <a:buNone/>
            </a:pPr>
            <a:r>
              <a:rPr lang="en-GB" sz="2500" b="1" strike="noStrike" spc="-1">
                <a:solidFill>
                  <a:srgbClr val="000000"/>
                </a:solidFill>
                <a:latin typeface="Times New Roman"/>
              </a:rPr>
              <a:t>Comprehensive Implementation Framework</a:t>
            </a:r>
            <a:r>
              <a:rPr lang="en-GB" sz="2500" b="0" strike="noStrike" spc="-1">
                <a:solidFill>
                  <a:srgbClr val="000000"/>
                </a:solidFill>
                <a:latin typeface="Times New Roman"/>
              </a:rPr>
              <a:t>: Most studies focus on either technical implementation or user acceptance. This project provides an integrated framework covering technical, usability, and organizational aspects.</a:t>
            </a:r>
            <a:endParaRPr lang="en-GB" sz="25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CHAPTER 3: RESEARCH METHODOLOGY</a:t>
            </a:r>
            <a:endParaRPr lang="en-GB" sz="1200" b="0" strike="noStrike" spc="-1">
              <a:latin typeface="Arial"/>
            </a:endParaRPr>
          </a:p>
        </p:txBody>
      </p:sp>
      <p:sp>
        <p:nvSpPr>
          <p:cNvPr id="136" name="PlaceHolder 2"/>
          <p:cNvSpPr>
            <a:spLocks noGrp="1"/>
          </p:cNvSpPr>
          <p:nvPr>
            <p:ph type="subTitle"/>
          </p:nvPr>
        </p:nvSpPr>
        <p:spPr>
          <a:xfrm>
            <a:off x="504000" y="855720"/>
            <a:ext cx="9071640" cy="4230000"/>
          </a:xfrm>
          <a:prstGeom prst="rect">
            <a:avLst/>
          </a:prstGeom>
          <a:noFill/>
          <a:ln w="0">
            <a:noFill/>
          </a:ln>
        </p:spPr>
        <p:txBody>
          <a:bodyPr lIns="0" tIns="0" rIns="0" bIns="0" anchor="ctr">
            <a:noAutofit/>
          </a:bodyPr>
          <a:lstStyle/>
          <a:p>
            <a:pPr algn="ctr">
              <a:buNone/>
            </a:pPr>
            <a:r>
              <a:rPr lang="en-GB" sz="2000" b="0" strike="noStrike" spc="-1">
                <a:latin typeface="Arial"/>
              </a:rPr>
              <a:t>3.1 Introduction</a:t>
            </a:r>
          </a:p>
          <a:p>
            <a:pPr algn="ctr">
              <a:buNone/>
            </a:pPr>
            <a:r>
              <a:rPr lang="en-GB" sz="2000" b="0" strike="noStrike" spc="-1">
                <a:solidFill>
                  <a:srgbClr val="000000"/>
                </a:solidFill>
                <a:latin typeface="Times New Roman"/>
              </a:rPr>
              <a:t>This chapter provides a comprehensive and systematic exposition of the methodological framework employed for the design, development, and evaluation of the proposed Biometric Attendance Management System (BAMS). The research methodology serves as the architectural blueprint for the entire project, ensuring a rigorous, reproducible, and scientifically sound process that bridges conceptual design with practical implementation. The selection of methods was driven by the need to address both the </a:t>
            </a:r>
            <a:r>
              <a:rPr lang="en-GB" sz="2000" b="0" i="1" strike="noStrike" spc="-1">
                <a:solidFill>
                  <a:srgbClr val="000000"/>
                </a:solidFill>
                <a:latin typeface="Times New Roman"/>
              </a:rPr>
              <a:t>technical</a:t>
            </a:r>
            <a:r>
              <a:rPr lang="en-GB" sz="2000" b="0" strike="noStrike" spc="-1">
                <a:solidFill>
                  <a:srgbClr val="000000"/>
                </a:solidFill>
                <a:latin typeface="Times New Roman"/>
              </a:rPr>
              <a:t> and </a:t>
            </a:r>
            <a:r>
              <a:rPr lang="en-GB" sz="2000" b="0" i="1" strike="noStrike" spc="-1">
                <a:solidFill>
                  <a:srgbClr val="000000"/>
                </a:solidFill>
                <a:latin typeface="Times New Roman"/>
              </a:rPr>
              <a:t>human-centric</a:t>
            </a:r>
            <a:r>
              <a:rPr lang="en-GB" sz="2000" b="0" strike="noStrike" spc="-1">
                <a:solidFill>
                  <a:srgbClr val="000000"/>
                </a:solidFill>
                <a:latin typeface="Times New Roman"/>
              </a:rPr>
              <a:t> dimensions of the system. Consequently, a mixed-methods research design was adopted, integrating quantitative techniques for system performance evaluation and qualitative approaches for assessing user acceptance and usability. This triangulation of methods provides a holistic understanding of the system’s efficacy, limitations, and real-world applicability. The chapter details the research philosophy, design, data collection instruments, development lifecycle, analytical frameworks, ethical considerations, and strategies for mitigating </a:t>
            </a:r>
            <a:r>
              <a:rPr lang="en-GB" sz="2000" b="0" strike="noStrike" spc="-1">
                <a:solidFill>
                  <a:srgbClr val="000000"/>
                </a:solidFill>
                <a:latin typeface="Times New Roman"/>
                <a:ea typeface="Songti SC"/>
              </a:rPr>
              <a:t>project limitations.</a:t>
            </a:r>
            <a:r>
              <a:rPr lang="en-GB" sz="2000" b="0" strike="noStrike" spc="-1">
                <a:solidFill>
                  <a:srgbClr val="F9FAFB"/>
                </a:solidFill>
                <a:latin typeface="Times New Roman"/>
              </a:rPr>
              <a:t>ng project limitations.</a:t>
            </a:r>
            <a:endParaRPr lang="en-GB" sz="2000" b="0" strike="noStrike" spc="-1">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Research Design</a:t>
            </a:r>
            <a:endParaRPr lang="en-GB" sz="1200" b="0" strike="noStrike" spc="-1">
              <a:latin typeface="Arial"/>
            </a:endParaRPr>
          </a:p>
        </p:txBody>
      </p:sp>
      <p:sp>
        <p:nvSpPr>
          <p:cNvPr id="138"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a:solidFill>
                  <a:srgbClr val="000000"/>
                </a:solidFill>
                <a:latin typeface="Times New Roman"/>
              </a:rPr>
              <a:t>The research follows a </a:t>
            </a:r>
            <a:r>
              <a:rPr lang="en-GB" sz="3200" b="1" strike="noStrike" spc="-1">
                <a:solidFill>
                  <a:srgbClr val="000000"/>
                </a:solidFill>
                <a:latin typeface="Times New Roman"/>
              </a:rPr>
              <a:t>Design and Creation </a:t>
            </a:r>
            <a:r>
              <a:rPr lang="en-GB" sz="3200" b="0" strike="noStrike" spc="-1">
                <a:solidFill>
                  <a:srgbClr val="000000"/>
                </a:solidFill>
                <a:latin typeface="Times New Roman"/>
              </a:rPr>
              <a:t>methodology, which involves:</a:t>
            </a:r>
            <a:endParaRPr lang="en-GB" sz="3200" b="0" strike="noStrike" spc="-1">
              <a:latin typeface="Arial"/>
            </a:endParaRPr>
          </a:p>
          <a:p>
            <a:pPr algn="ctr">
              <a:buNone/>
            </a:pPr>
            <a:r>
              <a:rPr lang="en-GB" sz="3200" b="0" strike="noStrike" spc="-1">
                <a:latin typeface="Arial"/>
              </a:rPr>
              <a:t>Problem identification and requirements gathering</a:t>
            </a:r>
          </a:p>
          <a:p>
            <a:pPr algn="ctr">
              <a:buNone/>
            </a:pPr>
            <a:r>
              <a:rPr lang="en-GB" sz="3200" b="0" strike="noStrike" spc="-1">
                <a:latin typeface="Arial"/>
              </a:rPr>
              <a:t>System design and prototyping</a:t>
            </a:r>
          </a:p>
          <a:p>
            <a:pPr algn="ctr">
              <a:buNone/>
            </a:pPr>
            <a:r>
              <a:rPr lang="en-GB" sz="3200" b="0" strike="noStrike" spc="-1">
                <a:latin typeface="Arial"/>
              </a:rPr>
              <a:t>Development and implementation</a:t>
            </a:r>
          </a:p>
          <a:p>
            <a:pPr algn="ctr">
              <a:buNone/>
            </a:pPr>
            <a:r>
              <a:rPr lang="en-GB" sz="3200" b="0" strike="noStrike" spc="-1">
                <a:latin typeface="Arial"/>
              </a:rPr>
              <a:t>Testing and evaluation</a:t>
            </a:r>
          </a:p>
          <a:p>
            <a:pPr algn="ctr">
              <a:buNone/>
            </a:pPr>
            <a:r>
              <a:rPr lang="en-GB" sz="3200" b="0" strike="noStrike" spc="-1">
                <a:latin typeface="Arial"/>
              </a:rPr>
              <a:t>Refinement based on feedback</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1" strike="noStrike" spc="-1">
                <a:solidFill>
                  <a:srgbClr val="000000"/>
                </a:solidFill>
                <a:latin typeface="Times New Roman"/>
              </a:rPr>
              <a:t>Philosophical Approach</a:t>
            </a:r>
            <a:r>
              <a:rPr lang="en-GB" sz="3200" b="0" strike="noStrike" spc="-1">
                <a:solidFill>
                  <a:srgbClr val="000000"/>
                </a:solidFill>
                <a:latin typeface="Times New Roman"/>
              </a:rPr>
              <a:t>: Pragmatism, focusing on practical solutions to real-world problems at Bugema University.</a:t>
            </a:r>
            <a:endParaRPr lang="en-GB" sz="3200" b="0" strike="noStrike" spc="-1">
              <a:latin typeface="Arial"/>
            </a:endParaRPr>
          </a:p>
          <a:p>
            <a:pPr algn="ctr">
              <a:buNone/>
            </a:pPr>
            <a:r>
              <a:rPr lang="en-GB" sz="3200" b="1" strike="noStrike" spc="-1">
                <a:solidFill>
                  <a:srgbClr val="000000"/>
                </a:solidFill>
                <a:latin typeface="Times New Roman"/>
              </a:rPr>
              <a:t>Research Strategy</a:t>
            </a:r>
            <a:r>
              <a:rPr lang="en-GB" sz="3200" b="0" strike="noStrike" spc="-1">
                <a:solidFill>
                  <a:srgbClr val="000000"/>
                </a:solidFill>
                <a:latin typeface="Times New Roman"/>
              </a:rPr>
              <a:t>: Case study approach focusing on Bugema University as the primary implementation site, with design considerations for broader applicability.</a:t>
            </a:r>
            <a:endParaRPr lang="en-GB" sz="3200" b="0" strike="noStrike" spc="-1">
              <a:latin typeface="Arial"/>
            </a:endParaRPr>
          </a:p>
          <a:p>
            <a:pPr algn="ctr">
              <a:buNone/>
            </a:pPr>
            <a:r>
              <a:rPr lang="en-GB" sz="3200" b="1" strike="noStrike" spc="-1">
                <a:solidFill>
                  <a:srgbClr val="000000"/>
                </a:solidFill>
                <a:latin typeface="Times New Roman"/>
              </a:rPr>
              <a:t>Temporal Dimension</a:t>
            </a:r>
            <a:r>
              <a:rPr lang="en-GB" sz="3200" b="0" strike="noStrike" spc="-1">
                <a:solidFill>
                  <a:srgbClr val="000000"/>
                </a:solidFill>
                <a:latin typeface="Times New Roman"/>
              </a:rPr>
              <a:t>: Longitudinal elements for system testing and evaluation, though development follows a project timeline.</a:t>
            </a:r>
            <a:endParaRPr lang="en-GB" sz="320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Data Collection Methods</a:t>
            </a:r>
            <a:endParaRPr lang="en-GB" sz="1200" b="0" strike="noStrike" spc="-1">
              <a:latin typeface="Arial"/>
            </a:endParaRPr>
          </a:p>
        </p:txBody>
      </p:sp>
      <p:sp>
        <p:nvSpPr>
          <p:cNvPr id="141"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algn="ctr">
              <a:buNone/>
            </a:pPr>
            <a:r>
              <a:rPr lang="en-GB" sz="3200" b="0" strike="noStrike" spc="-1" dirty="0">
                <a:latin typeface="Arial"/>
              </a:rPr>
              <a:t>Primary Data Collection</a:t>
            </a:r>
          </a:p>
          <a:p>
            <a:pPr algn="ctr">
              <a:buNone/>
            </a:pPr>
            <a:r>
              <a:rPr lang="en-GB" sz="3200" b="1" strike="noStrike" spc="-1" dirty="0">
                <a:solidFill>
                  <a:srgbClr val="000000"/>
                </a:solidFill>
                <a:latin typeface="Times New Roman"/>
              </a:rPr>
              <a:t>Interviews </a:t>
            </a:r>
            <a:r>
              <a:rPr lang="en-GB" sz="3200" b="0" strike="noStrike" spc="-1" dirty="0">
                <a:solidFill>
                  <a:srgbClr val="000000"/>
                </a:solidFill>
                <a:latin typeface="Times New Roman"/>
              </a:rPr>
              <a:t>(Semi-structured):</a:t>
            </a:r>
            <a:endParaRPr lang="en-GB" sz="3200" b="0" strike="noStrike" spc="-1" dirty="0">
              <a:latin typeface="Arial"/>
            </a:endParaRPr>
          </a:p>
          <a:p>
            <a:pPr algn="ctr">
              <a:buNone/>
            </a:pPr>
            <a:r>
              <a:rPr lang="en-GB" sz="3200" b="0" strike="noStrike" spc="-1" dirty="0">
                <a:latin typeface="Arial"/>
              </a:rPr>
              <a:t>5 lecturers from different departments</a:t>
            </a:r>
          </a:p>
          <a:p>
            <a:pPr algn="ctr">
              <a:buNone/>
            </a:pPr>
            <a:r>
              <a:rPr lang="en-GB" sz="3200" b="0" strike="noStrike" spc="-1" dirty="0">
                <a:latin typeface="Arial"/>
              </a:rPr>
              <a:t>3 administrative staff</a:t>
            </a:r>
          </a:p>
          <a:p>
            <a:pPr algn="ctr">
              <a:buNone/>
            </a:pPr>
            <a:r>
              <a:rPr lang="en-GB" sz="3200" b="0" strike="noStrike" spc="-1" dirty="0">
                <a:latin typeface="Arial"/>
              </a:rPr>
              <a:t>15 students across various programs</a:t>
            </a:r>
          </a:p>
          <a:p>
            <a:pPr algn="ctr">
              <a:buNone/>
            </a:pPr>
            <a:r>
              <a:rPr lang="en-GB" sz="3200" b="0" strike="noStrike" spc="-1" dirty="0">
                <a:latin typeface="Arial"/>
              </a:rPr>
              <a:t>Focus: Current challenges, desired features, usability preferences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2500" b="1" strike="noStrike" spc="-1">
                <a:solidFill>
                  <a:srgbClr val="000000"/>
                </a:solidFill>
                <a:latin typeface="Times New Roman"/>
              </a:rPr>
              <a:t>Observation</a:t>
            </a:r>
            <a:r>
              <a:rPr lang="en-GB" sz="2500" b="0" strike="noStrike" spc="-1">
                <a:solidFill>
                  <a:srgbClr val="000000"/>
                </a:solidFill>
                <a:latin typeface="Times New Roman"/>
              </a:rPr>
              <a:t>:</a:t>
            </a:r>
            <a:endParaRPr lang="en-GB" sz="2500" b="0" strike="noStrike" spc="-1">
              <a:latin typeface="Arial"/>
            </a:endParaRPr>
          </a:p>
          <a:p>
            <a:pPr algn="ctr">
              <a:buNone/>
            </a:pPr>
            <a:r>
              <a:rPr lang="en-GB" sz="2500" b="0" strike="noStrike" spc="-1">
                <a:latin typeface="Arial"/>
              </a:rPr>
              <a:t>Direct observation of current attendance processes in 10 classes</a:t>
            </a:r>
          </a:p>
          <a:p>
            <a:pPr algn="ctr">
              <a:buNone/>
            </a:pPr>
            <a:r>
              <a:rPr lang="en-GB" sz="2500" b="0" strike="noStrike" spc="-1">
                <a:latin typeface="Arial"/>
              </a:rPr>
              <a:t>Time-motion studies to quantify time spent on attendance activities</a:t>
            </a:r>
          </a:p>
          <a:p>
            <a:pPr algn="ctr">
              <a:buNone/>
            </a:pPr>
            <a:r>
              <a:rPr lang="en-GB" sz="2500" b="0" strike="noStrike" spc="-1">
                <a:latin typeface="Arial"/>
              </a:rPr>
              <a:t>Environmental assessment of classrooms for biometric implementation</a:t>
            </a:r>
          </a:p>
          <a:p>
            <a:pPr algn="ctr">
              <a:buNone/>
            </a:pPr>
            <a:r>
              <a:rPr lang="en-GB" sz="2500" b="1" strike="noStrike" spc="-1">
                <a:solidFill>
                  <a:srgbClr val="000000"/>
                </a:solidFill>
                <a:latin typeface="Times New Roman"/>
              </a:rPr>
              <a:t>Document Analysis</a:t>
            </a:r>
            <a:r>
              <a:rPr lang="en-GB" sz="2500" b="0" strike="noStrike" spc="-1">
                <a:solidFill>
                  <a:srgbClr val="000000"/>
                </a:solidFill>
                <a:latin typeface="Times New Roman"/>
              </a:rPr>
              <a:t>:</a:t>
            </a:r>
            <a:endParaRPr lang="en-GB" sz="2500" b="0" strike="noStrike" spc="-1">
              <a:latin typeface="Arial"/>
            </a:endParaRPr>
          </a:p>
          <a:p>
            <a:pPr algn="ctr">
              <a:buNone/>
            </a:pPr>
            <a:r>
              <a:rPr lang="en-GB" sz="2500" b="0" strike="noStrike" spc="-1">
                <a:latin typeface="Arial"/>
              </a:rPr>
              <a:t>Existing attendance records and reporting formats</a:t>
            </a:r>
          </a:p>
          <a:p>
            <a:pPr algn="ctr">
              <a:buNone/>
            </a:pPr>
            <a:r>
              <a:rPr lang="en-GB" sz="2500" b="0" strike="noStrike" spc="-1">
                <a:latin typeface="Arial"/>
              </a:rPr>
              <a:t>University policies on attendance management</a:t>
            </a:r>
          </a:p>
          <a:p>
            <a:pPr algn="ctr">
              <a:buNone/>
            </a:pPr>
            <a:r>
              <a:rPr lang="en-GB" sz="2500" b="0" strike="noStrike" spc="-1">
                <a:latin typeface="Arial"/>
              </a:rPr>
              <a:t>Technical infrastructure documentation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subTitle"/>
          </p:nvPr>
        </p:nvSpPr>
        <p:spPr>
          <a:xfrm>
            <a:off x="504000" y="360000"/>
            <a:ext cx="9071640" cy="4771440"/>
          </a:xfrm>
          <a:prstGeom prst="rect">
            <a:avLst/>
          </a:prstGeom>
          <a:noFill/>
          <a:ln w="0">
            <a:noFill/>
          </a:ln>
        </p:spPr>
        <p:txBody>
          <a:bodyPr lIns="0" tIns="0" rIns="0" bIns="0" anchor="ctr">
            <a:noAutofit/>
          </a:bodyPr>
          <a:lstStyle/>
          <a:p>
            <a:pPr algn="ctr">
              <a:buNone/>
            </a:pPr>
            <a:r>
              <a:rPr lang="en-GB" sz="2600" b="1" strike="noStrike" spc="-1">
                <a:solidFill>
                  <a:srgbClr val="000000"/>
                </a:solidFill>
                <a:latin typeface="Times New Roman"/>
              </a:rPr>
              <a:t>Questionnaire Survey</a:t>
            </a:r>
            <a:r>
              <a:rPr lang="en-GB" sz="2600" b="0" strike="noStrike" spc="-1">
                <a:solidFill>
                  <a:srgbClr val="000000"/>
                </a:solidFill>
                <a:latin typeface="Times New Roman"/>
              </a:rPr>
              <a:t>:</a:t>
            </a:r>
            <a:endParaRPr lang="en-GB" sz="2600" b="0" strike="noStrike" spc="-1">
              <a:latin typeface="Arial"/>
            </a:endParaRPr>
          </a:p>
          <a:p>
            <a:pPr algn="ctr">
              <a:buNone/>
            </a:pPr>
            <a:r>
              <a:rPr lang="en-GB" sz="2600" b="0" strike="noStrike" spc="-1">
                <a:latin typeface="Arial"/>
              </a:rPr>
              <a:t>Distributed to 50 lecturers and 200 students</a:t>
            </a:r>
          </a:p>
          <a:p>
            <a:pPr algn="ctr">
              <a:buNone/>
            </a:pPr>
            <a:r>
              <a:rPr lang="en-GB" sz="2600" b="0" strike="noStrike" spc="-1">
                <a:latin typeface="Arial"/>
              </a:rPr>
              <a:t>Likert-scale questions on system requirements</a:t>
            </a:r>
          </a:p>
          <a:p>
            <a:pPr algn="ctr">
              <a:buNone/>
            </a:pPr>
            <a:r>
              <a:rPr lang="en-GB" sz="2600" b="0" strike="noStrike" spc="-1">
                <a:latin typeface="Arial"/>
              </a:rPr>
              <a:t>Open-ended questions for qualitative insights</a:t>
            </a:r>
          </a:p>
          <a:p>
            <a:pPr algn="ctr">
              <a:buNone/>
            </a:pPr>
            <a:r>
              <a:rPr lang="en-GB" sz="2600" b="0" strike="noStrike" spc="-1">
                <a:latin typeface="Arial"/>
              </a:rPr>
              <a:t>Secondary Data Collection</a:t>
            </a:r>
          </a:p>
          <a:p>
            <a:pPr algn="ctr">
              <a:buNone/>
            </a:pPr>
            <a:r>
              <a:rPr lang="en-GB" sz="2600" b="1" strike="noStrike" spc="-1">
                <a:solidFill>
                  <a:srgbClr val="000000"/>
                </a:solidFill>
                <a:latin typeface="Times New Roman"/>
              </a:rPr>
              <a:t>Literature Review</a:t>
            </a:r>
            <a:r>
              <a:rPr lang="en-GB" sz="2600" b="0" strike="noStrike" spc="-1">
                <a:solidFill>
                  <a:srgbClr val="000000"/>
                </a:solidFill>
                <a:latin typeface="Times New Roman"/>
              </a:rPr>
              <a:t>: As detailed in Chapter 2</a:t>
            </a:r>
            <a:endParaRPr lang="en-GB" sz="2600" b="0" strike="noStrike" spc="-1">
              <a:latin typeface="Arial"/>
            </a:endParaRPr>
          </a:p>
          <a:p>
            <a:pPr algn="ctr">
              <a:buNone/>
            </a:pPr>
            <a:r>
              <a:rPr lang="en-GB" sz="2600" b="1" strike="noStrike" spc="-1">
                <a:solidFill>
                  <a:srgbClr val="000000"/>
                </a:solidFill>
                <a:latin typeface="Times New Roman"/>
              </a:rPr>
              <a:t>System Analysis</a:t>
            </a:r>
            <a:r>
              <a:rPr lang="en-GB" sz="2600" b="0" strike="noStrike" spc="-1">
                <a:solidFill>
                  <a:srgbClr val="000000"/>
                </a:solidFill>
                <a:latin typeface="Times New Roman"/>
              </a:rPr>
              <a:t>: Examination of provided interfaces and similar commercial systems</a:t>
            </a:r>
            <a:endParaRPr lang="en-GB" sz="2600" b="0" strike="noStrike" spc="-1">
              <a:latin typeface="Arial"/>
            </a:endParaRPr>
          </a:p>
          <a:p>
            <a:pPr algn="ctr">
              <a:buNone/>
            </a:pPr>
            <a:r>
              <a:rPr lang="en-GB" sz="2600" b="1" strike="noStrike" spc="-1">
                <a:solidFill>
                  <a:srgbClr val="000000"/>
                </a:solidFill>
                <a:latin typeface="Times New Roman"/>
              </a:rPr>
              <a:t>Technical Specifications</a:t>
            </a:r>
            <a:r>
              <a:rPr lang="en-GB" sz="2600" b="0" strike="noStrike" spc="-1">
                <a:solidFill>
                  <a:srgbClr val="000000"/>
                </a:solidFill>
                <a:latin typeface="Times New Roman"/>
              </a:rPr>
              <a:t>: Review of biometric hardware and software options</a:t>
            </a:r>
            <a:endParaRPr lang="en-GB" sz="2600" b="0" strike="noStrike" spc="-1">
              <a:latin typeface="Arial"/>
            </a:endParaRPr>
          </a:p>
          <a:p>
            <a:pPr algn="ctr">
              <a:buNone/>
            </a:pPr>
            <a:r>
              <a:rPr lang="en-GB" sz="2600" b="1" strike="noStrike" spc="-1">
                <a:solidFill>
                  <a:srgbClr val="000000"/>
                </a:solidFill>
                <a:latin typeface="Times New Roman"/>
              </a:rPr>
              <a:t>Regulatory Framework</a:t>
            </a:r>
            <a:r>
              <a:rPr lang="en-GB" sz="2600" b="0" strike="noStrike" spc="-1">
                <a:solidFill>
                  <a:srgbClr val="000000"/>
                </a:solidFill>
                <a:latin typeface="Times New Roman"/>
              </a:rPr>
              <a:t>: Analysis of data protection laws and educational regulations</a:t>
            </a:r>
            <a:endParaRPr lang="en-GB" sz="2600" b="0" strike="noStrike" spc="-1">
              <a:latin typeface="Arial"/>
            </a:endParaRPr>
          </a:p>
          <a:p>
            <a:pPr algn="ctr">
              <a:buNone/>
            </a:pPr>
            <a:endParaRPr lang="en-GB" sz="2600" b="0" strike="noStrike" spc="-1">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Data Analysis Methods</a:t>
            </a:r>
            <a:endParaRPr lang="en-GB" sz="1200" b="0" strike="noStrike" spc="-1">
              <a:latin typeface="Arial"/>
            </a:endParaRPr>
          </a:p>
        </p:txBody>
      </p:sp>
      <p:sp>
        <p:nvSpPr>
          <p:cNvPr id="145" name="PlaceHolder 2"/>
          <p:cNvSpPr>
            <a:spLocks noGrp="1"/>
          </p:cNvSpPr>
          <p:nvPr>
            <p:ph type="subTitle"/>
          </p:nvPr>
        </p:nvSpPr>
        <p:spPr>
          <a:xfrm>
            <a:off x="504000" y="937080"/>
            <a:ext cx="9071640" cy="4067640"/>
          </a:xfrm>
          <a:prstGeom prst="rect">
            <a:avLst/>
          </a:prstGeom>
          <a:noFill/>
          <a:ln w="0">
            <a:noFill/>
          </a:ln>
        </p:spPr>
        <p:txBody>
          <a:bodyPr lIns="0" tIns="0" rIns="0" bIns="0" anchor="ctr">
            <a:noAutofit/>
          </a:bodyPr>
          <a:lstStyle/>
          <a:p>
            <a:pPr algn="ctr">
              <a:buNone/>
            </a:pPr>
            <a:r>
              <a:rPr lang="en-GB" sz="3200" b="0" strike="noStrike" spc="-1">
                <a:latin typeface="Arial"/>
              </a:rPr>
              <a:t>Quantitative Analysis</a:t>
            </a:r>
          </a:p>
          <a:p>
            <a:pPr algn="ctr">
              <a:buNone/>
            </a:pPr>
            <a:r>
              <a:rPr lang="en-GB" sz="3200" b="1" strike="noStrike" spc="-1">
                <a:solidFill>
                  <a:srgbClr val="000000"/>
                </a:solidFill>
                <a:latin typeface="Times New Roman"/>
              </a:rPr>
              <a:t>Descriptive Statistics</a:t>
            </a:r>
            <a:r>
              <a:rPr lang="en-GB" sz="3200" b="0" strike="noStrike" spc="-1">
                <a:solidFill>
                  <a:srgbClr val="000000"/>
                </a:solidFill>
                <a:latin typeface="Times New Roman"/>
              </a:rPr>
              <a:t>: Frequencies, percentages, means for survey data</a:t>
            </a:r>
            <a:endParaRPr lang="en-GB" sz="3200" b="0" strike="noStrike" spc="-1">
              <a:latin typeface="Arial"/>
            </a:endParaRPr>
          </a:p>
          <a:p>
            <a:pPr algn="ctr">
              <a:buNone/>
            </a:pPr>
            <a:r>
              <a:rPr lang="en-GB" sz="3200" b="1" strike="noStrike" spc="-1">
                <a:solidFill>
                  <a:srgbClr val="000000"/>
                </a:solidFill>
                <a:latin typeface="Times New Roman"/>
              </a:rPr>
              <a:t>Time Analysis</a:t>
            </a:r>
            <a:r>
              <a:rPr lang="en-GB" sz="3200" b="0" strike="noStrike" spc="-1">
                <a:solidFill>
                  <a:srgbClr val="000000"/>
                </a:solidFill>
                <a:latin typeface="Times New Roman"/>
              </a:rPr>
              <a:t>: Comparison of time efficiency between current and proposed systems</a:t>
            </a:r>
            <a:endParaRPr lang="en-GB" sz="3200" b="0" strike="noStrike" spc="-1">
              <a:latin typeface="Arial"/>
            </a:endParaRPr>
          </a:p>
          <a:p>
            <a:pPr algn="ctr">
              <a:buNone/>
            </a:pPr>
            <a:r>
              <a:rPr lang="en-GB" sz="3200" b="1" strike="noStrike" spc="-1">
                <a:solidFill>
                  <a:srgbClr val="000000"/>
                </a:solidFill>
                <a:latin typeface="Times New Roman"/>
              </a:rPr>
              <a:t>Accuracy Metrics</a:t>
            </a:r>
            <a:r>
              <a:rPr lang="en-GB" sz="3200" b="0" strike="noStrike" spc="-1">
                <a:solidFill>
                  <a:srgbClr val="000000"/>
                </a:solidFill>
                <a:latin typeface="Times New Roman"/>
              </a:rPr>
              <a:t>: Precision, recall, F1-score for biometric recognition</a:t>
            </a:r>
            <a:endParaRPr lang="en-GB" sz="3200" b="0" strike="noStrike" spc="-1">
              <a:latin typeface="Arial"/>
            </a:endParaRPr>
          </a:p>
          <a:p>
            <a:pPr algn="ctr">
              <a:buNone/>
            </a:pPr>
            <a:r>
              <a:rPr lang="en-GB" sz="3200" b="1" strike="noStrike" spc="-1">
                <a:solidFill>
                  <a:srgbClr val="000000"/>
                </a:solidFill>
                <a:latin typeface="Times New Roman"/>
              </a:rPr>
              <a:t>System Performance</a:t>
            </a:r>
            <a:r>
              <a:rPr lang="en-GB" sz="3200" b="0" strike="noStrike" spc="-1">
                <a:solidFill>
                  <a:srgbClr val="000000"/>
                </a:solidFill>
                <a:latin typeface="Times New Roman"/>
              </a:rPr>
              <a:t>: Response times, throughput, error rates</a:t>
            </a:r>
            <a:endParaRPr lang="en-GB" sz="3200" b="0" strike="noStrike" spc="-1">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subTitle"/>
          </p:nvPr>
        </p:nvSpPr>
        <p:spPr>
          <a:xfrm>
            <a:off x="504000" y="215280"/>
            <a:ext cx="9071640" cy="4408920"/>
          </a:xfrm>
          <a:prstGeom prst="rect">
            <a:avLst/>
          </a:prstGeom>
          <a:noFill/>
          <a:ln w="0">
            <a:noFill/>
          </a:ln>
        </p:spPr>
        <p:txBody>
          <a:bodyPr lIns="0" tIns="0" rIns="0" bIns="0" anchor="ctr">
            <a:noAutofit/>
          </a:bodyPr>
          <a:lstStyle/>
          <a:p>
            <a:pPr algn="ctr">
              <a:buNone/>
            </a:pPr>
            <a:r>
              <a:rPr lang="en-GB" sz="2600" b="0" strike="noStrike" spc="-1">
                <a:latin typeface="Arial"/>
              </a:rPr>
              <a:t>Qualitative Analysis</a:t>
            </a:r>
          </a:p>
          <a:p>
            <a:pPr algn="ctr">
              <a:buNone/>
            </a:pPr>
            <a:r>
              <a:rPr lang="en-GB" sz="2600" b="1" strike="noStrike" spc="-1">
                <a:solidFill>
                  <a:srgbClr val="000000"/>
                </a:solidFill>
                <a:latin typeface="Times New Roman"/>
              </a:rPr>
              <a:t>Thematic Analysis</a:t>
            </a:r>
            <a:r>
              <a:rPr lang="en-GB" sz="2600" b="0" strike="noStrike" spc="-1">
                <a:solidFill>
                  <a:srgbClr val="000000"/>
                </a:solidFill>
                <a:latin typeface="Times New Roman"/>
              </a:rPr>
              <a:t>: Identifying patterns in interview and open-ended responses</a:t>
            </a:r>
            <a:endParaRPr lang="en-GB" sz="2600" b="0" strike="noStrike" spc="-1">
              <a:latin typeface="Arial"/>
            </a:endParaRPr>
          </a:p>
          <a:p>
            <a:pPr algn="ctr">
              <a:buNone/>
            </a:pPr>
            <a:r>
              <a:rPr lang="en-GB" sz="2600" b="1" strike="noStrike" spc="-1">
                <a:solidFill>
                  <a:srgbClr val="000000"/>
                </a:solidFill>
                <a:latin typeface="Times New Roman"/>
              </a:rPr>
              <a:t>Content Analysis</a:t>
            </a:r>
            <a:r>
              <a:rPr lang="en-GB" sz="2600" b="0" strike="noStrike" spc="-1">
                <a:solidFill>
                  <a:srgbClr val="000000"/>
                </a:solidFill>
                <a:latin typeface="Times New Roman"/>
              </a:rPr>
              <a:t>: Systematic examination of documents and interfaces</a:t>
            </a:r>
            <a:endParaRPr lang="en-GB" sz="2600" b="0" strike="noStrike" spc="-1">
              <a:latin typeface="Arial"/>
            </a:endParaRPr>
          </a:p>
          <a:p>
            <a:pPr algn="ctr">
              <a:buNone/>
            </a:pPr>
            <a:r>
              <a:rPr lang="en-GB" sz="2600" b="1" strike="noStrike" spc="-1">
                <a:solidFill>
                  <a:srgbClr val="000000"/>
                </a:solidFill>
                <a:latin typeface="Times New Roman"/>
              </a:rPr>
              <a:t>Comparative Analysis</a:t>
            </a:r>
            <a:r>
              <a:rPr lang="en-GB" sz="2600" b="0" strike="noStrike" spc="-1">
                <a:solidFill>
                  <a:srgbClr val="000000"/>
                </a:solidFill>
                <a:latin typeface="Times New Roman"/>
              </a:rPr>
              <a:t>: Contrasting different interface designs and user preferences</a:t>
            </a:r>
            <a:endParaRPr lang="en-GB" sz="2600" b="0" strike="noStrike" spc="-1">
              <a:latin typeface="Arial"/>
            </a:endParaRPr>
          </a:p>
          <a:p>
            <a:pPr algn="ctr">
              <a:buNone/>
            </a:pPr>
            <a:r>
              <a:rPr lang="en-GB" sz="2600" b="0" strike="noStrike" spc="-1">
                <a:latin typeface="Arial"/>
              </a:rPr>
              <a:t>Mixed Methods Integration</a:t>
            </a:r>
          </a:p>
          <a:p>
            <a:pPr algn="ctr">
              <a:buNone/>
            </a:pPr>
            <a:r>
              <a:rPr lang="en-GB" sz="2600" b="0" strike="noStrike" spc="-1">
                <a:latin typeface="Arial"/>
              </a:rPr>
              <a:t>Triangulation of quantitative and qualitative findings</a:t>
            </a:r>
          </a:p>
          <a:p>
            <a:pPr algn="ctr">
              <a:buNone/>
            </a:pPr>
            <a:r>
              <a:rPr lang="en-GB" sz="2600" b="0" strike="noStrike" spc="-1">
                <a:latin typeface="Arial"/>
              </a:rPr>
              <a:t>Sequential explanatory design: Quantitative data informs qualitative exploration</a:t>
            </a:r>
          </a:p>
          <a:p>
            <a:pPr algn="ctr">
              <a:buNone/>
            </a:pPr>
            <a:r>
              <a:rPr lang="en-GB" sz="2600" b="0" strike="noStrike" spc="-1">
                <a:latin typeface="Arial"/>
              </a:rPr>
              <a:t>Joint displays for integrated presentation of results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Software Development Methodology</a:t>
            </a:r>
            <a:endParaRPr lang="en-GB" sz="1200" b="0" strike="noStrike" spc="-1">
              <a:latin typeface="Arial"/>
            </a:endParaRPr>
          </a:p>
        </p:txBody>
      </p:sp>
      <p:sp>
        <p:nvSpPr>
          <p:cNvPr id="148" name="PlaceHolder 2"/>
          <p:cNvSpPr>
            <a:spLocks noGrp="1"/>
          </p:cNvSpPr>
          <p:nvPr>
            <p:ph type="subTitle"/>
          </p:nvPr>
        </p:nvSpPr>
        <p:spPr>
          <a:xfrm>
            <a:off x="504000" y="942840"/>
            <a:ext cx="9071640" cy="4055400"/>
          </a:xfrm>
          <a:prstGeom prst="rect">
            <a:avLst/>
          </a:prstGeom>
          <a:noFill/>
          <a:ln w="0">
            <a:noFill/>
          </a:ln>
        </p:spPr>
        <p:txBody>
          <a:bodyPr lIns="0" tIns="0" rIns="0" bIns="0" anchor="ctr">
            <a:noAutofit/>
          </a:bodyPr>
          <a:lstStyle/>
          <a:p>
            <a:pPr algn="ctr">
              <a:buNone/>
            </a:pPr>
            <a:r>
              <a:rPr lang="en-GB" sz="2400" b="0" strike="noStrike" spc="-1" dirty="0">
                <a:latin typeface="Arial"/>
              </a:rPr>
              <a:t>Agile Approach</a:t>
            </a:r>
          </a:p>
          <a:p>
            <a:pPr algn="ctr">
              <a:buNone/>
            </a:pPr>
            <a:r>
              <a:rPr lang="en-GB" sz="2400" b="0" strike="noStrike" spc="-1" dirty="0">
                <a:latin typeface="Arial"/>
              </a:rPr>
              <a:t>The development follows a modified Agile methodology with Scrum elements:</a:t>
            </a:r>
          </a:p>
          <a:p>
            <a:pPr algn="ctr">
              <a:buNone/>
            </a:pPr>
            <a:r>
              <a:rPr lang="en-GB" sz="2400" b="0" strike="noStrike" spc="-1" dirty="0">
                <a:latin typeface="Arial"/>
              </a:rPr>
              <a:t>Sprints (2-week cycles):</a:t>
            </a:r>
          </a:p>
          <a:p>
            <a:pPr algn="ctr">
              <a:buNone/>
            </a:pPr>
            <a:r>
              <a:rPr lang="en-GB" sz="2400" b="1" strike="noStrike" spc="-1" dirty="0">
                <a:solidFill>
                  <a:srgbClr val="000000"/>
                </a:solidFill>
                <a:latin typeface="Times New Roman"/>
              </a:rPr>
              <a:t>Sprint 1</a:t>
            </a:r>
            <a:r>
              <a:rPr lang="en-GB" sz="2400" b="0" strike="noStrike" spc="-1" dirty="0">
                <a:solidFill>
                  <a:srgbClr val="000000"/>
                </a:solidFill>
                <a:latin typeface="Times New Roman"/>
              </a:rPr>
              <a:t>: Requirements finalisation and architecture design</a:t>
            </a:r>
            <a:endParaRPr lang="en-GB" sz="2400" b="0" strike="noStrike" spc="-1" dirty="0">
              <a:latin typeface="Arial"/>
            </a:endParaRPr>
          </a:p>
          <a:p>
            <a:pPr algn="ctr">
              <a:buNone/>
            </a:pPr>
            <a:r>
              <a:rPr lang="en-GB" sz="2400" b="1" strike="noStrike" spc="-1" dirty="0">
                <a:solidFill>
                  <a:srgbClr val="000000"/>
                </a:solidFill>
                <a:latin typeface="Times New Roman"/>
              </a:rPr>
              <a:t>Sprint 2</a:t>
            </a:r>
            <a:r>
              <a:rPr lang="en-GB" sz="2400" b="0" strike="noStrike" spc="-1" dirty="0">
                <a:solidFill>
                  <a:srgbClr val="000000"/>
                </a:solidFill>
                <a:latin typeface="Times New Roman"/>
              </a:rPr>
              <a:t>: User authentication and basic dashboard</a:t>
            </a:r>
            <a:endParaRPr lang="en-GB" sz="2400" b="0" strike="noStrike" spc="-1" dirty="0">
              <a:latin typeface="Arial"/>
            </a:endParaRPr>
          </a:p>
          <a:p>
            <a:pPr algn="ctr">
              <a:buNone/>
            </a:pPr>
            <a:r>
              <a:rPr lang="en-GB" sz="2400" b="1" strike="noStrike" spc="-1" dirty="0">
                <a:solidFill>
                  <a:srgbClr val="000000"/>
                </a:solidFill>
                <a:latin typeface="Times New Roman"/>
              </a:rPr>
              <a:t>Sprint 3</a:t>
            </a:r>
            <a:r>
              <a:rPr lang="en-GB" sz="2400" b="0" strike="noStrike" spc="-1" dirty="0">
                <a:solidFill>
                  <a:srgbClr val="000000"/>
                </a:solidFill>
                <a:latin typeface="Times New Roman"/>
              </a:rPr>
              <a:t>: Student registration module</a:t>
            </a:r>
            <a:endParaRPr lang="en-GB" sz="2400" b="0" strike="noStrike" spc="-1" dirty="0">
              <a:latin typeface="Arial"/>
            </a:endParaRPr>
          </a:p>
          <a:p>
            <a:pPr algn="ctr">
              <a:buNone/>
            </a:pPr>
            <a:r>
              <a:rPr lang="en-GB" sz="2400" b="1" strike="noStrike" spc="-1" dirty="0">
                <a:solidFill>
                  <a:srgbClr val="000000"/>
                </a:solidFill>
                <a:latin typeface="Times New Roman"/>
              </a:rPr>
              <a:t>Sprint 4</a:t>
            </a:r>
            <a:r>
              <a:rPr lang="en-GB" sz="2400" b="0" strike="noStrike" spc="-1" dirty="0">
                <a:solidFill>
                  <a:srgbClr val="000000"/>
                </a:solidFill>
                <a:latin typeface="Times New Roman"/>
              </a:rPr>
              <a:t>: Biometric </a:t>
            </a:r>
            <a:r>
              <a:rPr lang="en-GB" sz="2400" b="0" strike="noStrike" spc="-1" dirty="0" err="1">
                <a:solidFill>
                  <a:srgbClr val="000000"/>
                </a:solidFill>
                <a:latin typeface="Times New Roman"/>
              </a:rPr>
              <a:t>enrollment</a:t>
            </a:r>
            <a:r>
              <a:rPr lang="en-GB" sz="2400" b="0" strike="noStrike" spc="-1" dirty="0">
                <a:solidFill>
                  <a:srgbClr val="000000"/>
                </a:solidFill>
                <a:latin typeface="Times New Roman"/>
              </a:rPr>
              <a:t> and verification</a:t>
            </a:r>
            <a:endParaRPr lang="en-GB" sz="2400" b="0" strike="noStrike" spc="-1" dirty="0">
              <a:latin typeface="Arial"/>
            </a:endParaRPr>
          </a:p>
          <a:p>
            <a:pPr algn="ctr">
              <a:buNone/>
            </a:pPr>
            <a:r>
              <a:rPr lang="en-GB" sz="2400" b="1" strike="noStrike" spc="-1" dirty="0">
                <a:solidFill>
                  <a:srgbClr val="000000"/>
                </a:solidFill>
                <a:latin typeface="Times New Roman"/>
              </a:rPr>
              <a:t>Sprint 5</a:t>
            </a:r>
            <a:r>
              <a:rPr lang="en-GB" sz="2400" b="0" strike="noStrike" spc="-1" dirty="0">
                <a:solidFill>
                  <a:srgbClr val="000000"/>
                </a:solidFill>
                <a:latin typeface="Times New Roman"/>
              </a:rPr>
              <a:t>: Session management (based on interface analysis)</a:t>
            </a:r>
            <a:endParaRPr lang="en-GB" sz="2400" b="0" strike="noStrike" spc="-1" dirty="0">
              <a:latin typeface="Arial"/>
            </a:endParaRPr>
          </a:p>
          <a:p>
            <a:pPr algn="ctr">
              <a:buNone/>
            </a:pPr>
            <a:r>
              <a:rPr lang="en-GB" sz="2400" b="1" strike="noStrike" spc="-1" dirty="0">
                <a:solidFill>
                  <a:srgbClr val="000000"/>
                </a:solidFill>
                <a:latin typeface="Times New Roman"/>
              </a:rPr>
              <a:t>Sprint 6</a:t>
            </a:r>
            <a:r>
              <a:rPr lang="en-GB" sz="2400" b="0" strike="noStrike" spc="-1" dirty="0">
                <a:solidFill>
                  <a:srgbClr val="000000"/>
                </a:solidFill>
                <a:latin typeface="Times New Roman"/>
              </a:rPr>
              <a:t>: Attendance tracking and reporting</a:t>
            </a:r>
            <a:endParaRPr lang="en-GB" sz="2400" b="0" strike="noStrike" spc="-1" dirty="0">
              <a:latin typeface="Arial"/>
            </a:endParaRPr>
          </a:p>
          <a:p>
            <a:pPr algn="ctr">
              <a:buNone/>
            </a:pPr>
            <a:r>
              <a:rPr lang="en-GB" sz="2400" b="1" strike="noStrike" spc="-1" dirty="0">
                <a:solidFill>
                  <a:srgbClr val="000000"/>
                </a:solidFill>
                <a:latin typeface="Times New Roman"/>
              </a:rPr>
              <a:t>Sprint 7</a:t>
            </a:r>
            <a:r>
              <a:rPr lang="en-GB" sz="2400" b="0" strike="noStrike" spc="-1" dirty="0">
                <a:solidFill>
                  <a:srgbClr val="000000"/>
                </a:solidFill>
                <a:latin typeface="Times New Roman"/>
              </a:rPr>
              <a:t>: Analytics and advanced features</a:t>
            </a:r>
            <a:endParaRPr lang="en-GB" sz="2400" b="0" strike="noStrike" spc="-1" dirty="0">
              <a:latin typeface="Arial"/>
            </a:endParaRPr>
          </a:p>
          <a:p>
            <a:pPr algn="ctr">
              <a:buNone/>
            </a:pPr>
            <a:r>
              <a:rPr lang="en-GB" sz="2400" b="1" strike="noStrike" spc="-1" dirty="0">
                <a:solidFill>
                  <a:srgbClr val="000000"/>
                </a:solidFill>
                <a:latin typeface="Times New Roman"/>
              </a:rPr>
              <a:t>Sprint 8</a:t>
            </a:r>
            <a:r>
              <a:rPr lang="en-GB" sz="2400" b="0" strike="noStrike" spc="-1" dirty="0">
                <a:solidFill>
                  <a:srgbClr val="000000"/>
                </a:solidFill>
                <a:latin typeface="Times New Roman"/>
              </a:rPr>
              <a:t>: Testing, optimisation, documentation</a:t>
            </a:r>
            <a:endParaRPr lang="en-GB" sz="2400" b="0" strike="noStrike" spc="-1" dirty="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FDC8B-C44B-DB38-E4CB-EE7B4430E786}"/>
              </a:ext>
            </a:extLst>
          </p:cNvPr>
          <p:cNvSpPr>
            <a:spLocks noGrp="1"/>
          </p:cNvSpPr>
          <p:nvPr>
            <p:ph type="title"/>
          </p:nvPr>
        </p:nvSpPr>
        <p:spPr>
          <a:xfrm>
            <a:off x="504000" y="226080"/>
            <a:ext cx="9071640" cy="287798"/>
          </a:xfrm>
        </p:spPr>
        <p:txBody>
          <a:bodyPr/>
          <a:lstStyle/>
          <a:p>
            <a:pPr algn="ctr"/>
            <a:r>
              <a:rPr lang="en-US" sz="6600" dirty="0"/>
              <a:t>ERD</a:t>
            </a:r>
            <a:endParaRPr lang="en-US" dirty="0"/>
          </a:p>
        </p:txBody>
      </p:sp>
      <p:sp>
        <p:nvSpPr>
          <p:cNvPr id="3" name="Subtitle 2">
            <a:extLst>
              <a:ext uri="{FF2B5EF4-FFF2-40B4-BE49-F238E27FC236}">
                <a16:creationId xmlns:a16="http://schemas.microsoft.com/office/drawing/2014/main" id="{F85F387C-D240-BFCE-DCD3-3A8487C09F1D}"/>
              </a:ext>
            </a:extLst>
          </p:cNvPr>
          <p:cNvSpPr>
            <a:spLocks noGrp="1"/>
          </p:cNvSpPr>
          <p:nvPr>
            <p:ph type="subTitle"/>
          </p:nvPr>
        </p:nvSpPr>
        <p:spPr>
          <a:xfrm>
            <a:off x="504000" y="1035312"/>
            <a:ext cx="9071640" cy="4635238"/>
          </a:xfrm>
        </p:spPr>
        <p:txBody>
          <a:bodyPr/>
          <a:lstStyle/>
          <a:p>
            <a:endParaRPr lang="en-US" dirty="0"/>
          </a:p>
        </p:txBody>
      </p:sp>
      <p:pic>
        <p:nvPicPr>
          <p:cNvPr id="5" name="Picture 4">
            <a:extLst>
              <a:ext uri="{FF2B5EF4-FFF2-40B4-BE49-F238E27FC236}">
                <a16:creationId xmlns:a16="http://schemas.microsoft.com/office/drawing/2014/main" id="{C33B2FEB-DCF3-68C1-95B9-121E99DCF7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2089" y="680132"/>
            <a:ext cx="6559498" cy="4904509"/>
          </a:xfrm>
          <a:prstGeom prst="rect">
            <a:avLst/>
          </a:prstGeom>
        </p:spPr>
      </p:pic>
    </p:spTree>
    <p:extLst>
      <p:ext uri="{BB962C8B-B14F-4D97-AF65-F5344CB8AC3E}">
        <p14:creationId xmlns:p14="http://schemas.microsoft.com/office/powerpoint/2010/main" val="10958838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A16F22E-4716-CA29-1F53-4AAD52955E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16560" y="-15138"/>
            <a:ext cx="3669907" cy="5691244"/>
            <a:chOff x="7760503" y="-18309"/>
            <a:chExt cx="4438566" cy="6883029"/>
          </a:xfrm>
        </p:grpSpPr>
        <p:sp>
          <p:nvSpPr>
            <p:cNvPr id="11" name="Rectangle 10">
              <a:extLst>
                <a:ext uri="{FF2B5EF4-FFF2-40B4-BE49-F238E27FC236}">
                  <a16:creationId xmlns:a16="http://schemas.microsoft.com/office/drawing/2014/main" id="{59412336-19ED-F153-443B-C46CDBED6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512" y="-11580"/>
              <a:ext cx="4431490" cy="6876300"/>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506AA53-E761-6881-5941-313119CC7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760503" y="1713600"/>
              <a:ext cx="4431496"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44707E7-29B6-36B5-B4C4-6160DFDB9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509" y="-11586"/>
              <a:ext cx="3264743"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A8476-48ED-D7D6-F383-338B2F00A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547151" y="1202115"/>
              <a:ext cx="6872341" cy="4431494"/>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16AF96E-959F-D9DF-ED30-4B0A523F2D1F}"/>
              </a:ext>
            </a:extLst>
          </p:cNvPr>
          <p:cNvSpPr>
            <a:spLocks noGrp="1"/>
          </p:cNvSpPr>
          <p:nvPr>
            <p:ph type="title"/>
          </p:nvPr>
        </p:nvSpPr>
        <p:spPr>
          <a:xfrm>
            <a:off x="6885958" y="1231483"/>
            <a:ext cx="2736961" cy="2593421"/>
          </a:xfrm>
        </p:spPr>
        <p:txBody>
          <a:bodyPr vert="horz" lIns="91440" tIns="45720" rIns="91440" bIns="45720" rtlCol="0" anchor="t">
            <a:normAutofit/>
          </a:bodyPr>
          <a:lstStyle/>
          <a:p>
            <a:r>
              <a:rPr lang="en-US" sz="2600">
                <a:solidFill>
                  <a:srgbClr val="FFFFFF"/>
                </a:solidFill>
              </a:rPr>
              <a:t>CLASS DIGRAM</a:t>
            </a:r>
          </a:p>
        </p:txBody>
      </p:sp>
      <p:sp>
        <p:nvSpPr>
          <p:cNvPr id="3" name="Subtitle 2">
            <a:extLst>
              <a:ext uri="{FF2B5EF4-FFF2-40B4-BE49-F238E27FC236}">
                <a16:creationId xmlns:a16="http://schemas.microsoft.com/office/drawing/2014/main" id="{552904EF-9AAA-53F2-5ADB-BD6940684E4B}"/>
              </a:ext>
            </a:extLst>
          </p:cNvPr>
          <p:cNvSpPr>
            <a:spLocks noGrp="1"/>
          </p:cNvSpPr>
          <p:nvPr>
            <p:ph type="subTitle"/>
          </p:nvPr>
        </p:nvSpPr>
        <p:spPr>
          <a:xfrm>
            <a:off x="6885958" y="3938898"/>
            <a:ext cx="2736961" cy="1007081"/>
          </a:xfrm>
        </p:spPr>
        <p:txBody>
          <a:bodyPr vert="horz" lIns="91440" tIns="45720" rIns="91440" bIns="45720" rtlCol="0" anchor="ctr">
            <a:normAutofit/>
          </a:bodyPr>
          <a:lstStyle/>
          <a:p>
            <a:pPr>
              <a:spcBef>
                <a:spcPts val="1000"/>
              </a:spcBef>
            </a:pPr>
            <a:endParaRPr lang="en-US" sz="1600">
              <a:solidFill>
                <a:srgbClr val="FFFFFF"/>
              </a:solidFill>
              <a:latin typeface="+mn-lt"/>
              <a:ea typeface="+mn-ea"/>
              <a:cs typeface="+mn-cs"/>
            </a:endParaRPr>
          </a:p>
        </p:txBody>
      </p:sp>
      <p:pic>
        <p:nvPicPr>
          <p:cNvPr id="5" name="Picture 4" descr="A computer screen shot of a diagram&#10;&#10;AI-generated content may be incorrect.">
            <a:extLst>
              <a:ext uri="{FF2B5EF4-FFF2-40B4-BE49-F238E27FC236}">
                <a16:creationId xmlns:a16="http://schemas.microsoft.com/office/drawing/2014/main" id="{DF67397C-3AE5-AC45-D76C-EB81E3D1CA6D}"/>
              </a:ext>
            </a:extLst>
          </p:cNvPr>
          <p:cNvPicPr>
            <a:picLocks noChangeAspect="1"/>
          </p:cNvPicPr>
          <p:nvPr/>
        </p:nvPicPr>
        <p:blipFill>
          <a:blip r:embed="rId2" cstate="print">
            <a:extLst>
              <a:ext uri="{28A0092B-C50C-407E-A947-70E740481C1C}">
                <a14:useLocalDpi xmlns:a14="http://schemas.microsoft.com/office/drawing/2010/main" val="0"/>
              </a:ext>
            </a:extLst>
          </a:blip>
          <a:srcRect r="-2" b="494"/>
          <a:stretch>
            <a:fillRect/>
          </a:stretch>
        </p:blipFill>
        <p:spPr>
          <a:xfrm>
            <a:off x="19" y="1082180"/>
            <a:ext cx="10080601" cy="4593926"/>
          </a:xfrm>
          <a:prstGeom prst="rect">
            <a:avLst/>
          </a:prstGeom>
        </p:spPr>
      </p:pic>
      <p:sp>
        <p:nvSpPr>
          <p:cNvPr id="6" name="TextBox 5">
            <a:extLst>
              <a:ext uri="{FF2B5EF4-FFF2-40B4-BE49-F238E27FC236}">
                <a16:creationId xmlns:a16="http://schemas.microsoft.com/office/drawing/2014/main" id="{2E6E42C1-FC6C-6530-5BCD-1C667E0651F7}"/>
              </a:ext>
            </a:extLst>
          </p:cNvPr>
          <p:cNvSpPr txBox="1"/>
          <p:nvPr/>
        </p:nvSpPr>
        <p:spPr>
          <a:xfrm>
            <a:off x="1702965" y="167780"/>
            <a:ext cx="6761527" cy="646331"/>
          </a:xfrm>
          <a:prstGeom prst="rect">
            <a:avLst/>
          </a:prstGeom>
          <a:noFill/>
        </p:spPr>
        <p:txBody>
          <a:bodyPr wrap="square" rtlCol="0">
            <a:spAutoFit/>
          </a:bodyPr>
          <a:lstStyle/>
          <a:p>
            <a:pPr algn="ctr"/>
            <a:r>
              <a:rPr lang="en-US" sz="3600" b="1" dirty="0"/>
              <a:t>CLASS DIAGRAM</a:t>
            </a:r>
          </a:p>
        </p:txBody>
      </p:sp>
    </p:spTree>
    <p:extLst>
      <p:ext uri="{BB962C8B-B14F-4D97-AF65-F5344CB8AC3E}">
        <p14:creationId xmlns:p14="http://schemas.microsoft.com/office/powerpoint/2010/main" val="341996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0" strike="noStrike" spc="-1">
                <a:latin typeface="Arial"/>
              </a:rPr>
              <a:t>Key Agile Practices:</a:t>
            </a:r>
          </a:p>
          <a:p>
            <a:pPr algn="ctr">
              <a:buNone/>
            </a:pPr>
            <a:r>
              <a:rPr lang="en-GB" sz="3200" b="0" strike="noStrike" spc="-1">
                <a:latin typeface="Arial"/>
              </a:rPr>
              <a:t>Daily stand-up meetings</a:t>
            </a:r>
          </a:p>
          <a:p>
            <a:pPr algn="ctr">
              <a:buNone/>
            </a:pPr>
            <a:r>
              <a:rPr lang="en-GB" sz="3200" b="0" strike="noStrike" spc="-1">
                <a:latin typeface="Arial"/>
              </a:rPr>
              <a:t>Sprint planning and review sessions</a:t>
            </a:r>
          </a:p>
          <a:p>
            <a:pPr algn="ctr">
              <a:buNone/>
            </a:pPr>
            <a:r>
              <a:rPr lang="en-GB" sz="3200" b="0" strike="noStrike" spc="-1">
                <a:latin typeface="Arial"/>
              </a:rPr>
              <a:t>Continuous integration and deployment</a:t>
            </a:r>
          </a:p>
          <a:p>
            <a:pPr algn="ctr">
              <a:buNone/>
            </a:pPr>
            <a:r>
              <a:rPr lang="en-GB" sz="3200" b="0" strike="noStrike" spc="-1">
                <a:latin typeface="Arial"/>
              </a:rPr>
              <a:t>User feedback incorporation after each sprint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REQUIREMENTS, ANALYSIS &amp; DESIGN</a:t>
            </a:r>
            <a:endParaRPr lang="en-GB" sz="1200" b="0" strike="noStrike" spc="-1">
              <a:latin typeface="Arial"/>
            </a:endParaRPr>
          </a:p>
        </p:txBody>
      </p:sp>
      <p:sp>
        <p:nvSpPr>
          <p:cNvPr id="151" name="PlaceHolder 2"/>
          <p:cNvSpPr>
            <a:spLocks noGrp="1"/>
          </p:cNvSpPr>
          <p:nvPr>
            <p:ph type="subTitle"/>
          </p:nvPr>
        </p:nvSpPr>
        <p:spPr>
          <a:xfrm>
            <a:off x="504000" y="921960"/>
            <a:ext cx="9071640" cy="4097880"/>
          </a:xfrm>
          <a:prstGeom prst="rect">
            <a:avLst/>
          </a:prstGeom>
          <a:noFill/>
          <a:ln w="0">
            <a:noFill/>
          </a:ln>
        </p:spPr>
        <p:txBody>
          <a:bodyPr lIns="0" tIns="0" rIns="0" bIns="0" anchor="ctr">
            <a:noAutofit/>
          </a:bodyPr>
          <a:lstStyle/>
          <a:p>
            <a:pPr algn="ctr">
              <a:buNone/>
            </a:pPr>
            <a:r>
              <a:rPr lang="en-GB" sz="3200" b="1" strike="noStrike" spc="-1">
                <a:latin typeface="Times New Roman"/>
              </a:rPr>
              <a:t>Introduction</a:t>
            </a:r>
          </a:p>
          <a:p>
            <a:pPr algn="ctr">
              <a:buNone/>
            </a:pPr>
            <a:r>
              <a:rPr lang="en-GB" sz="3200" b="0" strike="noStrike" spc="-1">
                <a:latin typeface="Arial"/>
              </a:rPr>
              <a:t>This chapter details the system requirements, architectural design, and interface specifications for the Biometric Attendance Management System (BAMS), utilising Convex as the reactive backend database platform. Convex provides real-time data synchronisation, automatic reactivity, and serverless function execution, making it ideal for a real-time attendance system with live updates.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subTitle"/>
          </p:nvPr>
        </p:nvSpPr>
        <p:spPr>
          <a:xfrm>
            <a:off x="504000" y="58680"/>
            <a:ext cx="9071640" cy="4723560"/>
          </a:xfrm>
          <a:prstGeom prst="rect">
            <a:avLst/>
          </a:prstGeom>
          <a:noFill/>
          <a:ln w="0">
            <a:noFill/>
          </a:ln>
        </p:spPr>
        <p:txBody>
          <a:bodyPr lIns="0" tIns="0" rIns="0" bIns="0" anchor="ctr">
            <a:noAutofit/>
          </a:bodyPr>
          <a:lstStyle/>
          <a:p>
            <a:pPr algn="ctr">
              <a:buNone/>
            </a:pPr>
            <a:r>
              <a:rPr lang="en-GB" sz="2400" b="1" strike="noStrike" spc="-1">
                <a:solidFill>
                  <a:srgbClr val="000000"/>
                </a:solidFill>
                <a:latin typeface="Times New Roman"/>
              </a:rPr>
              <a:t>User Requirements</a:t>
            </a:r>
          </a:p>
          <a:p>
            <a:pPr algn="ctr">
              <a:buNone/>
            </a:pPr>
            <a:r>
              <a:rPr lang="en-GB" sz="2400" b="0" strike="noStrike" spc="-1">
                <a:latin typeface="Arial"/>
              </a:rPr>
              <a:t>Based on interface analysis and stakeholder interviews:</a:t>
            </a:r>
          </a:p>
          <a:p>
            <a:pPr algn="ctr">
              <a:buNone/>
            </a:pPr>
            <a:r>
              <a:rPr lang="en-GB" sz="2400" b="0" strike="noStrike" spc="-1">
                <a:latin typeface="Arial"/>
              </a:rPr>
              <a:t>4.2.1 Lecturer Requirements</a:t>
            </a:r>
          </a:p>
          <a:p>
            <a:pPr algn="ctr">
              <a:buNone/>
            </a:pPr>
            <a:r>
              <a:rPr lang="en-GB" sz="2400" b="1" strike="noStrike" spc="-1">
                <a:solidFill>
                  <a:srgbClr val="000000"/>
                </a:solidFill>
                <a:latin typeface="Times New Roman"/>
              </a:rPr>
              <a:t>Authentication</a:t>
            </a:r>
            <a:r>
              <a:rPr lang="en-GB" sz="2400" b="0" strike="noStrike" spc="-1">
                <a:solidFill>
                  <a:srgbClr val="000000"/>
                </a:solidFill>
                <a:latin typeface="Times New Roman"/>
              </a:rPr>
              <a:t>: Secure login with email and password (as shown in login interface)</a:t>
            </a:r>
            <a:endParaRPr lang="en-GB" sz="2400" b="0" strike="noStrike" spc="-1">
              <a:latin typeface="Arial"/>
            </a:endParaRPr>
          </a:p>
          <a:p>
            <a:pPr algn="ctr">
              <a:buNone/>
            </a:pPr>
            <a:r>
              <a:rPr lang="en-GB" sz="2400" b="1" strike="noStrike" spc="-1">
                <a:solidFill>
                  <a:srgbClr val="000000"/>
                </a:solidFill>
                <a:latin typeface="Times New Roman"/>
              </a:rPr>
              <a:t>Realtime Dashboard</a:t>
            </a:r>
            <a:r>
              <a:rPr lang="en-GB" sz="2400" b="0" strike="noStrike" spc="-1">
                <a:solidFill>
                  <a:srgbClr val="000000"/>
                </a:solidFill>
                <a:latin typeface="Times New Roman"/>
              </a:rPr>
              <a:t>: Live updates of attendance statistics and session status</a:t>
            </a:r>
            <a:endParaRPr lang="en-GB" sz="2400" b="0" strike="noStrike" spc="-1">
              <a:latin typeface="Arial"/>
            </a:endParaRPr>
          </a:p>
          <a:p>
            <a:pPr algn="ctr">
              <a:buNone/>
            </a:pPr>
            <a:r>
              <a:rPr lang="en-GB" sz="2400" b="1" strike="noStrike" spc="-1">
                <a:solidFill>
                  <a:srgbClr val="000000"/>
                </a:solidFill>
                <a:latin typeface="Times New Roman"/>
              </a:rPr>
              <a:t>Session Management</a:t>
            </a:r>
            <a:r>
              <a:rPr lang="en-GB" sz="2400" b="0" strike="noStrike" spc="-1">
                <a:solidFill>
                  <a:srgbClr val="000000"/>
                </a:solidFill>
                <a:latin typeface="Times New Roman"/>
              </a:rPr>
              <a:t>: Create, schedule, start, and end sessions with real-time student tracking</a:t>
            </a:r>
            <a:endParaRPr lang="en-GB" sz="2400" b="0" strike="noStrike" spc="-1">
              <a:latin typeface="Arial"/>
            </a:endParaRPr>
          </a:p>
          <a:p>
            <a:pPr algn="ctr">
              <a:buNone/>
            </a:pPr>
            <a:r>
              <a:rPr lang="en-GB" sz="2400" b="1" strike="noStrike" spc="-1">
                <a:solidFill>
                  <a:srgbClr val="000000"/>
                </a:solidFill>
                <a:latin typeface="Times New Roman"/>
              </a:rPr>
              <a:t>Student Enrollment</a:t>
            </a:r>
            <a:r>
              <a:rPr lang="en-GB" sz="2400" b="0" strike="noStrike" spc="-1">
                <a:solidFill>
                  <a:srgbClr val="000000"/>
                </a:solidFill>
                <a:latin typeface="Times New Roman"/>
              </a:rPr>
              <a:t>: Enroll students with immediate availability for attendance</a:t>
            </a:r>
            <a:endParaRPr lang="en-GB" sz="2400" b="0" strike="noStrike" spc="-1">
              <a:latin typeface="Arial"/>
            </a:endParaRPr>
          </a:p>
          <a:p>
            <a:pPr algn="ctr">
              <a:buNone/>
            </a:pPr>
            <a:r>
              <a:rPr lang="en-GB" sz="2400" b="1" strike="noStrike" spc="-1">
                <a:solidFill>
                  <a:srgbClr val="000000"/>
                </a:solidFill>
                <a:latin typeface="Times New Roman"/>
              </a:rPr>
              <a:t>Live Attendance Tracking</a:t>
            </a:r>
            <a:r>
              <a:rPr lang="en-GB" sz="2400" b="0" strike="noStrike" spc="-1">
                <a:solidFill>
                  <a:srgbClr val="000000"/>
                </a:solidFill>
                <a:latin typeface="Times New Roman"/>
              </a:rPr>
              <a:t>: Real-time monitoring as students check in</a:t>
            </a:r>
            <a:endParaRPr lang="en-GB" sz="2400" b="0" strike="noStrike" spc="-1">
              <a:latin typeface="Arial"/>
            </a:endParaRPr>
          </a:p>
          <a:p>
            <a:pPr algn="ctr">
              <a:buNone/>
            </a:pPr>
            <a:r>
              <a:rPr lang="en-GB" sz="2400" b="1" strike="noStrike" spc="-1">
                <a:solidFill>
                  <a:srgbClr val="000000"/>
                </a:solidFill>
                <a:latin typeface="Times New Roman"/>
              </a:rPr>
              <a:t>Reporting</a:t>
            </a:r>
            <a:r>
              <a:rPr lang="en-GB" sz="2400" b="0" strike="noStrike" spc="-1">
                <a:solidFill>
                  <a:srgbClr val="000000"/>
                </a:solidFill>
                <a:latin typeface="Times New Roman"/>
              </a:rPr>
              <a:t>: Generate and export attendance reports</a:t>
            </a:r>
            <a:endParaRPr lang="en-GB" sz="2400" b="0" strike="noStrike" spc="-1">
              <a:latin typeface="Arial"/>
            </a:endParaRPr>
          </a:p>
          <a:p>
            <a:pPr algn="ctr">
              <a:buNone/>
            </a:pPr>
            <a:r>
              <a:rPr lang="en-GB" sz="2400" b="1" strike="noStrike" spc="-1">
                <a:solidFill>
                  <a:srgbClr val="000000"/>
                </a:solidFill>
                <a:latin typeface="Times New Roman"/>
              </a:rPr>
              <a:t>Course Management</a:t>
            </a:r>
            <a:r>
              <a:rPr lang="en-GB" sz="2400" b="0" strike="noStrike" spc="-1">
                <a:solidFill>
                  <a:srgbClr val="000000"/>
                </a:solidFill>
                <a:latin typeface="Times New Roman"/>
              </a:rPr>
              <a:t>: View and manage assigned course units</a:t>
            </a:r>
            <a:endParaRPr lang="en-GB" sz="2400" b="0" strike="noStrike" spc="-1">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subTitle"/>
          </p:nvPr>
        </p:nvSpPr>
        <p:spPr>
          <a:xfrm>
            <a:off x="468360" y="360000"/>
            <a:ext cx="9071640" cy="4966200"/>
          </a:xfrm>
          <a:prstGeom prst="rect">
            <a:avLst/>
          </a:prstGeom>
          <a:noFill/>
          <a:ln w="0">
            <a:noFill/>
          </a:ln>
        </p:spPr>
        <p:txBody>
          <a:bodyPr lIns="0" tIns="0" rIns="0" bIns="0" anchor="ctr">
            <a:noAutofit/>
          </a:bodyPr>
          <a:lstStyle/>
          <a:p>
            <a:pPr algn="ctr">
              <a:buNone/>
            </a:pPr>
            <a:r>
              <a:rPr lang="en-GB" sz="3200" b="1" strike="noStrike" spc="-1">
                <a:latin typeface="Times New Roman"/>
              </a:rPr>
              <a:t>Student Requirements</a:t>
            </a:r>
          </a:p>
          <a:p>
            <a:pPr algn="ctr">
              <a:buNone/>
            </a:pPr>
            <a:r>
              <a:rPr lang="en-GB" sz="3200" b="1" strike="noStrike" spc="-1">
                <a:solidFill>
                  <a:srgbClr val="000000"/>
                </a:solidFill>
                <a:latin typeface="Times New Roman"/>
              </a:rPr>
              <a:t>Registration</a:t>
            </a:r>
            <a:r>
              <a:rPr lang="en-GB" sz="3200" b="0" strike="noStrike" spc="-1">
                <a:solidFill>
                  <a:srgbClr val="000000"/>
                </a:solidFill>
                <a:latin typeface="Times New Roman"/>
              </a:rPr>
              <a:t>: Submit personal information with immediate system access</a:t>
            </a:r>
            <a:endParaRPr lang="en-GB" sz="3200" b="0" strike="noStrike" spc="-1">
              <a:latin typeface="Arial"/>
            </a:endParaRPr>
          </a:p>
          <a:p>
            <a:pPr algn="ctr">
              <a:buNone/>
            </a:pPr>
            <a:r>
              <a:rPr lang="en-GB" sz="3200" b="1" strike="noStrike" spc="-1">
                <a:solidFill>
                  <a:srgbClr val="000000"/>
                </a:solidFill>
                <a:latin typeface="Times New Roman"/>
              </a:rPr>
              <a:t>Biometric Enrollment</a:t>
            </a:r>
            <a:r>
              <a:rPr lang="en-GB" sz="3200" b="0" strike="noStrike" spc="-1">
                <a:solidFill>
                  <a:srgbClr val="000000"/>
                </a:solidFill>
                <a:latin typeface="Times New Roman"/>
              </a:rPr>
              <a:t>: Capture facial template with instant verification</a:t>
            </a:r>
            <a:endParaRPr lang="en-GB" sz="3200" b="0" strike="noStrike" spc="-1">
              <a:latin typeface="Arial"/>
            </a:endParaRPr>
          </a:p>
          <a:p>
            <a:pPr algn="ctr">
              <a:buNone/>
            </a:pPr>
            <a:r>
              <a:rPr lang="en-GB" sz="3200" b="1" strike="noStrike" spc="-1">
                <a:solidFill>
                  <a:srgbClr val="000000"/>
                </a:solidFill>
                <a:latin typeface="Times New Roman"/>
              </a:rPr>
              <a:t>Attendance Check-in</a:t>
            </a:r>
            <a:r>
              <a:rPr lang="en-GB" sz="3200" b="0" strike="noStrike" spc="-1">
                <a:solidFill>
                  <a:srgbClr val="000000"/>
                </a:solidFill>
                <a:latin typeface="Times New Roman"/>
              </a:rPr>
              <a:t>: Real-time biometric verification with immediate confirmation</a:t>
            </a:r>
            <a:endParaRPr lang="en-GB" sz="3200" b="0" strike="noStrike" spc="-1">
              <a:latin typeface="Arial"/>
            </a:endParaRPr>
          </a:p>
          <a:p>
            <a:pPr algn="ctr">
              <a:buNone/>
            </a:pPr>
            <a:r>
              <a:rPr lang="en-GB" sz="3200" b="1" strike="noStrike" spc="-1">
                <a:solidFill>
                  <a:srgbClr val="000000"/>
                </a:solidFill>
                <a:latin typeface="Times New Roman"/>
              </a:rPr>
              <a:t>Attendance History</a:t>
            </a:r>
            <a:r>
              <a:rPr lang="en-GB" sz="3200" b="0" strike="noStrike" spc="-1">
                <a:solidFill>
                  <a:srgbClr val="000000"/>
                </a:solidFill>
                <a:latin typeface="Times New Roman"/>
              </a:rPr>
              <a:t>: Live view of personal attendance records</a:t>
            </a:r>
            <a:endParaRPr lang="en-GB" sz="3200" b="0" strike="noStrike" spc="-1">
              <a:latin typeface="Arial"/>
            </a:endParaRPr>
          </a:p>
          <a:p>
            <a:pPr algn="ctr">
              <a:buNone/>
            </a:pPr>
            <a:r>
              <a:rPr lang="en-GB" sz="3200" b="1" strike="noStrike" spc="-1">
                <a:solidFill>
                  <a:srgbClr val="000000"/>
                </a:solidFill>
                <a:latin typeface="Times New Roman"/>
              </a:rPr>
              <a:t>Profile Management</a:t>
            </a:r>
            <a:r>
              <a:rPr lang="en-GB" sz="3200" b="0" strike="noStrike" spc="-1">
                <a:solidFill>
                  <a:srgbClr val="000000"/>
                </a:solidFill>
                <a:latin typeface="Times New Roman"/>
              </a:rPr>
              <a:t>: Update personal information with real-time sync</a:t>
            </a:r>
            <a:endParaRPr lang="en-GB" sz="32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1" strike="noStrike" spc="-1">
                <a:latin typeface="Times New Roman"/>
              </a:rPr>
              <a:t>Administrator Requirements</a:t>
            </a:r>
          </a:p>
          <a:p>
            <a:pPr algn="ctr">
              <a:buNone/>
            </a:pPr>
            <a:r>
              <a:rPr lang="en-GB" sz="3200" b="1" strike="noStrike" spc="-1">
                <a:solidFill>
                  <a:srgbClr val="000000"/>
                </a:solidFill>
                <a:latin typeface="Times New Roman"/>
              </a:rPr>
              <a:t>User Management</a:t>
            </a:r>
            <a:r>
              <a:rPr lang="en-GB" sz="3200" b="0" strike="noStrike" spc="-1">
                <a:solidFill>
                  <a:srgbClr val="000000"/>
                </a:solidFill>
                <a:latin typeface="Times New Roman"/>
              </a:rPr>
              <a:t>: Real-time management of user accounts</a:t>
            </a:r>
            <a:endParaRPr lang="en-GB" sz="3200" b="0" strike="noStrike" spc="-1">
              <a:latin typeface="Arial"/>
            </a:endParaRPr>
          </a:p>
          <a:p>
            <a:pPr algn="ctr">
              <a:buNone/>
            </a:pPr>
            <a:r>
              <a:rPr lang="en-GB" sz="3200" b="1" strike="noStrike" spc="-1">
                <a:solidFill>
                  <a:srgbClr val="000000"/>
                </a:solidFill>
                <a:latin typeface="Times New Roman"/>
              </a:rPr>
              <a:t>System Configuration</a:t>
            </a:r>
            <a:r>
              <a:rPr lang="en-GB" sz="3200" b="0" strike="noStrike" spc="-1">
                <a:solidFill>
                  <a:srgbClr val="000000"/>
                </a:solidFill>
                <a:latin typeface="Times New Roman"/>
              </a:rPr>
              <a:t>: Live configuration updates</a:t>
            </a:r>
            <a:endParaRPr lang="en-GB" sz="3200" b="0" strike="noStrike" spc="-1">
              <a:latin typeface="Arial"/>
            </a:endParaRPr>
          </a:p>
          <a:p>
            <a:pPr algn="ctr">
              <a:buNone/>
            </a:pPr>
            <a:r>
              <a:rPr lang="en-GB" sz="3200" b="1" strike="noStrike" spc="-1">
                <a:solidFill>
                  <a:srgbClr val="000000"/>
                </a:solidFill>
                <a:latin typeface="Times New Roman"/>
              </a:rPr>
              <a:t>Reporting</a:t>
            </a:r>
            <a:r>
              <a:rPr lang="en-GB" sz="3200" b="0" strike="noStrike" spc="-1">
                <a:solidFill>
                  <a:srgbClr val="000000"/>
                </a:solidFill>
                <a:latin typeface="Times New Roman"/>
              </a:rPr>
              <a:t>: Real-time institutional reports</a:t>
            </a:r>
            <a:endParaRPr lang="en-GB" sz="3200" b="0" strike="noStrike" spc="-1">
              <a:latin typeface="Arial"/>
            </a:endParaRPr>
          </a:p>
          <a:p>
            <a:pPr algn="ctr">
              <a:buNone/>
            </a:pPr>
            <a:r>
              <a:rPr lang="en-GB" sz="3200" b="1" strike="noStrike" spc="-1">
                <a:solidFill>
                  <a:srgbClr val="000000"/>
                </a:solidFill>
                <a:latin typeface="Times New Roman"/>
              </a:rPr>
              <a:t>Analytics</a:t>
            </a:r>
            <a:r>
              <a:rPr lang="en-GB" sz="3200" b="0" strike="noStrike" spc="-1">
                <a:solidFill>
                  <a:srgbClr val="000000"/>
                </a:solidFill>
                <a:latin typeface="Times New Roman"/>
              </a:rPr>
              <a:t>: Live system usage and performance metrics</a:t>
            </a:r>
            <a:endParaRPr lang="en-GB" sz="3200" b="0" strike="noStrike" spc="-1">
              <a:latin typeface="Arial"/>
            </a:endParaRPr>
          </a:p>
          <a:p>
            <a:pPr algn="ctr">
              <a:buNone/>
            </a:pPr>
            <a:r>
              <a:rPr lang="en-GB" sz="3200" b="1" strike="noStrike" spc="-1">
                <a:solidFill>
                  <a:srgbClr val="000000"/>
                </a:solidFill>
                <a:latin typeface="Times New Roman"/>
              </a:rPr>
              <a:t>Data Management</a:t>
            </a:r>
            <a:r>
              <a:rPr lang="en-GB" sz="3200" b="0" strike="noStrike" spc="-1">
                <a:solidFill>
                  <a:srgbClr val="000000"/>
                </a:solidFill>
                <a:latin typeface="Times New Roman"/>
              </a:rPr>
              <a:t>: Real-time monitoring of system data</a:t>
            </a:r>
            <a:endParaRPr lang="en-GB" sz="3200" b="0" strike="noStrike" spc="-1">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0" strike="noStrike" spc="-1">
                <a:latin typeface="Arial"/>
              </a:rPr>
              <a:t>Technology Stack:</a:t>
            </a:r>
          </a:p>
          <a:p>
            <a:pPr algn="ctr">
              <a:buNone/>
            </a:pPr>
            <a:r>
              <a:rPr lang="en-GB" sz="3200" b="1" strike="noStrike" spc="-1">
                <a:solidFill>
                  <a:srgbClr val="000000"/>
                </a:solidFill>
                <a:latin typeface="Times New Roman"/>
              </a:rPr>
              <a:t>Frontend</a:t>
            </a:r>
            <a:r>
              <a:rPr lang="en-GB" sz="3200" b="0" strike="noStrike" spc="-1">
                <a:solidFill>
                  <a:srgbClr val="000000"/>
                </a:solidFill>
                <a:latin typeface="Times New Roman"/>
              </a:rPr>
              <a:t>: React.js with Convex React SDK</a:t>
            </a:r>
            <a:endParaRPr lang="en-GB" sz="3200" b="0" strike="noStrike" spc="-1">
              <a:latin typeface="Arial"/>
            </a:endParaRPr>
          </a:p>
          <a:p>
            <a:pPr algn="ctr">
              <a:buNone/>
            </a:pPr>
            <a:r>
              <a:rPr lang="en-GB" sz="3200" b="1" strike="noStrike" spc="-1">
                <a:solidFill>
                  <a:srgbClr val="000000"/>
                </a:solidFill>
                <a:latin typeface="Times New Roman"/>
              </a:rPr>
              <a:t>Backend</a:t>
            </a:r>
            <a:r>
              <a:rPr lang="en-GB" sz="3200" b="0" strike="noStrike" spc="-1">
                <a:solidFill>
                  <a:srgbClr val="000000"/>
                </a:solidFill>
                <a:latin typeface="Times New Roman"/>
              </a:rPr>
              <a:t>: Convex platform (TypeScript functions)</a:t>
            </a:r>
            <a:endParaRPr lang="en-GB" sz="3200" b="0" strike="noStrike" spc="-1">
              <a:latin typeface="Arial"/>
            </a:endParaRPr>
          </a:p>
          <a:p>
            <a:pPr algn="ctr">
              <a:buNone/>
            </a:pPr>
            <a:r>
              <a:rPr lang="en-GB" sz="3200" b="1" strike="noStrike" spc="-1">
                <a:solidFill>
                  <a:srgbClr val="000000"/>
                </a:solidFill>
                <a:latin typeface="Times New Roman"/>
              </a:rPr>
              <a:t>Database</a:t>
            </a:r>
            <a:r>
              <a:rPr lang="en-GB" sz="3200" b="0" strike="noStrike" spc="-1">
                <a:solidFill>
                  <a:srgbClr val="000000"/>
                </a:solidFill>
                <a:latin typeface="Times New Roman"/>
              </a:rPr>
              <a:t>: Convex reactive database</a:t>
            </a:r>
            <a:endParaRPr lang="en-GB" sz="3200" b="0" strike="noStrike" spc="-1">
              <a:latin typeface="Arial"/>
            </a:endParaRPr>
          </a:p>
          <a:p>
            <a:pPr algn="ctr">
              <a:buNone/>
            </a:pPr>
            <a:r>
              <a:rPr lang="en-GB" sz="3200" b="1" strike="noStrike" spc="-1">
                <a:solidFill>
                  <a:srgbClr val="000000"/>
                </a:solidFill>
                <a:latin typeface="Times New Roman"/>
              </a:rPr>
              <a:t>Authentication</a:t>
            </a:r>
            <a:r>
              <a:rPr lang="en-GB" sz="3200" b="0" strike="noStrike" spc="-1">
                <a:solidFill>
                  <a:srgbClr val="000000"/>
                </a:solidFill>
                <a:latin typeface="Times New Roman"/>
              </a:rPr>
              <a:t>: Convex Auth</a:t>
            </a:r>
            <a:endParaRPr lang="en-GB" sz="3200" b="0" strike="noStrike" spc="-1">
              <a:latin typeface="Arial"/>
            </a:endParaRPr>
          </a:p>
          <a:p>
            <a:pPr algn="ctr">
              <a:buNone/>
            </a:pPr>
            <a:r>
              <a:rPr lang="en-GB" sz="3200" b="1" strike="noStrike" spc="-1">
                <a:solidFill>
                  <a:srgbClr val="000000"/>
                </a:solidFill>
                <a:latin typeface="Times New Roman"/>
              </a:rPr>
              <a:t>Storage</a:t>
            </a:r>
            <a:r>
              <a:rPr lang="en-GB" sz="3200" b="0" strike="noStrike" spc="-1">
                <a:solidFill>
                  <a:srgbClr val="000000"/>
                </a:solidFill>
                <a:latin typeface="Times New Roman"/>
              </a:rPr>
              <a:t>: Convex file storage + vector storage</a:t>
            </a:r>
            <a:endParaRPr lang="en-GB" sz="3200" b="0" strike="noStrike" spc="-1">
              <a:latin typeface="Arial"/>
            </a:endParaRPr>
          </a:p>
          <a:p>
            <a:pPr algn="ctr">
              <a:buNone/>
            </a:pPr>
            <a:r>
              <a:rPr lang="en-GB" sz="3200" b="1" strike="noStrike" spc="-1">
                <a:solidFill>
                  <a:srgbClr val="000000"/>
                </a:solidFill>
                <a:latin typeface="Times New Roman"/>
              </a:rPr>
              <a:t>Deployment</a:t>
            </a:r>
            <a:r>
              <a:rPr lang="en-GB" sz="3200" b="0" strike="noStrike" spc="-1">
                <a:solidFill>
                  <a:srgbClr val="000000"/>
                </a:solidFill>
                <a:latin typeface="Times New Roman"/>
              </a:rPr>
              <a:t>: Convex Cloud</a:t>
            </a:r>
            <a:endParaRPr lang="en-GB" sz="3200" b="0" strike="noStrike" spc="-1">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IMPLEMENTATION &amp; TESTING</a:t>
            </a:r>
            <a:endParaRPr lang="en-GB" sz="1200" b="0" strike="noStrike" spc="-1">
              <a:latin typeface="Arial"/>
            </a:endParaRPr>
          </a:p>
        </p:txBody>
      </p:sp>
      <p:sp>
        <p:nvSpPr>
          <p:cNvPr id="157" name="PlaceHolder 2"/>
          <p:cNvSpPr>
            <a:spLocks noGrp="1"/>
          </p:cNvSpPr>
          <p:nvPr>
            <p:ph type="subTitle"/>
          </p:nvPr>
        </p:nvSpPr>
        <p:spPr>
          <a:xfrm>
            <a:off x="504000" y="1311840"/>
            <a:ext cx="9071640" cy="3318120"/>
          </a:xfrm>
          <a:prstGeom prst="rect">
            <a:avLst/>
          </a:prstGeom>
          <a:noFill/>
          <a:ln w="0">
            <a:noFill/>
          </a:ln>
        </p:spPr>
        <p:txBody>
          <a:bodyPr lIns="0" tIns="0" rIns="0" bIns="0" anchor="ctr">
            <a:noAutofit/>
          </a:bodyPr>
          <a:lstStyle/>
          <a:p>
            <a:pPr algn="ctr">
              <a:buNone/>
            </a:pPr>
            <a:r>
              <a:rPr lang="en-GB" sz="2600" b="1" strike="noStrike" spc="-1">
                <a:latin typeface="Times New Roman"/>
              </a:rPr>
              <a:t>Introduction</a:t>
            </a:r>
          </a:p>
          <a:p>
            <a:pPr algn="ctr">
              <a:buNone/>
            </a:pPr>
            <a:r>
              <a:rPr lang="en-GB" sz="2600" b="0" strike="noStrike" spc="-1">
                <a:latin typeface="Arial"/>
              </a:rPr>
              <a:t>This chapter details the implementation process of the Biometric Attendance Management System using Convex as the reactive backend platform. It covers the tools and technologies employed, module implementation specifics, code architecture, and comprehensive testing strategies. The implementation follows an iterative Agile approach with continuous integration and real-time feedback loops enabled by Convex's reactive architecture.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type="subTitle"/>
          </p:nvPr>
        </p:nvSpPr>
        <p:spPr>
          <a:xfrm>
            <a:off x="648360" y="460800"/>
            <a:ext cx="9071640" cy="4399200"/>
          </a:xfrm>
          <a:prstGeom prst="rect">
            <a:avLst/>
          </a:prstGeom>
          <a:noFill/>
          <a:ln w="0">
            <a:noFill/>
          </a:ln>
        </p:spPr>
        <p:txBody>
          <a:bodyPr lIns="0" tIns="0" rIns="0" bIns="0" anchor="ctr">
            <a:noAutofit/>
          </a:bodyPr>
          <a:lstStyle/>
          <a:p>
            <a:pPr algn="ctr">
              <a:buNone/>
            </a:pPr>
            <a:r>
              <a:rPr lang="en-GB" sz="2600" b="1" strike="noStrike" spc="-1">
                <a:latin typeface="Times New Roman"/>
              </a:rPr>
              <a:t>Implementation</a:t>
            </a:r>
          </a:p>
          <a:p>
            <a:r>
              <a:rPr lang="en-GB" sz="2600" b="0" strike="noStrike" spc="-1">
                <a:latin typeface="Arial"/>
              </a:rPr>
              <a:t>5.2.1 Tools and Technologies</a:t>
            </a:r>
          </a:p>
          <a:p>
            <a:r>
              <a:rPr lang="en-GB" sz="2600" b="0" strike="noStrike" spc="-1">
                <a:latin typeface="Arial"/>
              </a:rPr>
              <a:t>Frontend Stack:</a:t>
            </a:r>
          </a:p>
          <a:p>
            <a:r>
              <a:rPr lang="en-GB" sz="2600" b="1" strike="noStrike" spc="-1">
                <a:solidFill>
                  <a:srgbClr val="000000"/>
                </a:solidFill>
                <a:latin typeface="Times New Roman"/>
              </a:rPr>
              <a:t>React 18 </a:t>
            </a:r>
            <a:r>
              <a:rPr lang="en-GB" sz="2600" b="0" strike="noStrike" spc="-1">
                <a:solidFill>
                  <a:srgbClr val="000000"/>
                </a:solidFill>
                <a:latin typeface="Times New Roman"/>
              </a:rPr>
              <a:t>with TypeScript for type-safe development</a:t>
            </a:r>
            <a:endParaRPr lang="en-GB" sz="2600" b="0" strike="noStrike" spc="-1">
              <a:latin typeface="Arial"/>
            </a:endParaRPr>
          </a:p>
          <a:p>
            <a:r>
              <a:rPr lang="en-GB" sz="2600" b="1" strike="noStrike" spc="-1">
                <a:solidFill>
                  <a:srgbClr val="000000"/>
                </a:solidFill>
                <a:latin typeface="Times New Roman"/>
              </a:rPr>
              <a:t>Vite </a:t>
            </a:r>
            <a:r>
              <a:rPr lang="en-GB" sz="2600" b="0" strike="noStrike" spc="-1">
                <a:solidFill>
                  <a:srgbClr val="000000"/>
                </a:solidFill>
                <a:latin typeface="Times New Roman"/>
              </a:rPr>
              <a:t>for fast development and building</a:t>
            </a:r>
            <a:endParaRPr lang="en-GB" sz="2600" b="0" strike="noStrike" spc="-1">
              <a:latin typeface="Arial"/>
            </a:endParaRPr>
          </a:p>
          <a:p>
            <a:r>
              <a:rPr lang="en-GB" sz="2600" b="1" strike="noStrike" spc="-1">
                <a:solidFill>
                  <a:srgbClr val="000000"/>
                </a:solidFill>
                <a:latin typeface="Times New Roman"/>
              </a:rPr>
              <a:t>Tailwind CSS </a:t>
            </a:r>
            <a:r>
              <a:rPr lang="en-GB" sz="2600" b="0" strike="noStrike" spc="-1">
                <a:solidFill>
                  <a:srgbClr val="000000"/>
                </a:solidFill>
                <a:latin typeface="Times New Roman"/>
              </a:rPr>
              <a:t>for responsive UI components</a:t>
            </a:r>
            <a:endParaRPr lang="en-GB" sz="2600" b="0" strike="noStrike" spc="-1">
              <a:latin typeface="Arial"/>
            </a:endParaRPr>
          </a:p>
          <a:p>
            <a:r>
              <a:rPr lang="en-GB" sz="2600" b="1" strike="noStrike" spc="-1">
                <a:solidFill>
                  <a:srgbClr val="000000"/>
                </a:solidFill>
                <a:latin typeface="Times New Roman"/>
              </a:rPr>
              <a:t>Convex React SDK </a:t>
            </a:r>
            <a:r>
              <a:rPr lang="en-GB" sz="2600" b="0" strike="noStrike" spc="-1">
                <a:solidFill>
                  <a:srgbClr val="000000"/>
                </a:solidFill>
                <a:latin typeface="Times New Roman"/>
              </a:rPr>
              <a:t>for real-time data synchronisation</a:t>
            </a:r>
            <a:endParaRPr lang="en-GB" sz="2600" b="0" strike="noStrike" spc="-1">
              <a:latin typeface="Arial"/>
            </a:endParaRPr>
          </a:p>
          <a:p>
            <a:r>
              <a:rPr lang="en-GB" sz="2600" b="1" strike="noStrike" spc="-1">
                <a:solidFill>
                  <a:srgbClr val="000000"/>
                </a:solidFill>
                <a:latin typeface="Times New Roman"/>
              </a:rPr>
              <a:t>FaceAPI.js </a:t>
            </a:r>
            <a:r>
              <a:rPr lang="en-GB" sz="2600" b="0" strike="noStrike" spc="-1">
                <a:solidFill>
                  <a:srgbClr val="000000"/>
                </a:solidFill>
                <a:latin typeface="Times New Roman"/>
              </a:rPr>
              <a:t>for client-side facial recognition preprocessing</a:t>
            </a:r>
            <a:endParaRPr lang="en-GB" sz="2600" b="0" strike="noStrike" spc="-1">
              <a:latin typeface="Arial"/>
            </a:endParaRPr>
          </a:p>
          <a:p>
            <a:r>
              <a:rPr lang="en-GB" sz="2600" b="1" strike="noStrike" spc="-1">
                <a:solidFill>
                  <a:srgbClr val="000000"/>
                </a:solidFill>
                <a:latin typeface="Times New Roman"/>
              </a:rPr>
              <a:t>React Query </a:t>
            </a:r>
            <a:r>
              <a:rPr lang="en-GB" sz="2600" b="0" strike="noStrike" spc="-1">
                <a:solidFill>
                  <a:srgbClr val="000000"/>
                </a:solidFill>
                <a:latin typeface="Times New Roman"/>
              </a:rPr>
              <a:t>for additional state management</a:t>
            </a:r>
            <a:endParaRPr lang="en-GB" sz="2600" b="0" strike="noStrike" spc="-1">
              <a:latin typeface="Arial"/>
            </a:endParaRPr>
          </a:p>
          <a:p>
            <a:r>
              <a:rPr lang="en-GB" sz="2600" b="1" strike="noStrike" spc="-1">
                <a:solidFill>
                  <a:srgbClr val="000000"/>
                </a:solidFill>
                <a:latin typeface="Times New Roman"/>
              </a:rPr>
              <a:t>Zod </a:t>
            </a:r>
            <a:r>
              <a:rPr lang="en-GB" sz="2600" b="0" strike="noStrike" spc="-1">
                <a:solidFill>
                  <a:srgbClr val="000000"/>
                </a:solidFill>
                <a:latin typeface="Times New Roman"/>
              </a:rPr>
              <a:t>for runtime validation</a:t>
            </a:r>
            <a:endParaRPr lang="en-GB" sz="2600" b="0" strike="noStrike" spc="-1">
              <a:latin typeface="Arial"/>
            </a:endParaRPr>
          </a:p>
          <a:p>
            <a:r>
              <a:rPr lang="en-GB" sz="2600" b="1" strike="noStrike" spc="-1">
                <a:solidFill>
                  <a:srgbClr val="000000"/>
                </a:solidFill>
                <a:latin typeface="Times New Roman"/>
              </a:rPr>
              <a:t>React Router v6 </a:t>
            </a:r>
            <a:r>
              <a:rPr lang="en-GB" sz="2600" b="0" strike="noStrike" spc="-1">
                <a:solidFill>
                  <a:srgbClr val="000000"/>
                </a:solidFill>
                <a:latin typeface="Times New Roman"/>
              </a:rPr>
              <a:t>for navigation</a:t>
            </a:r>
            <a:endParaRPr lang="en-GB" sz="2600" b="0" strike="noStrike" spc="-1">
              <a:latin typeface="Arial"/>
            </a:endParaRPr>
          </a:p>
          <a:p>
            <a:endParaRPr lang="en-GB" sz="2600" b="0" strike="noStrike" spc="-1">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Backend/Convex Stack:</a:t>
            </a:r>
          </a:p>
          <a:p>
            <a:r>
              <a:rPr lang="en-GB" sz="3200" b="1" strike="noStrike" spc="-1">
                <a:solidFill>
                  <a:srgbClr val="000000"/>
                </a:solidFill>
                <a:latin typeface="Times New Roman"/>
              </a:rPr>
              <a:t>Convex Platform </a:t>
            </a:r>
            <a:r>
              <a:rPr lang="en-GB" sz="3200" b="0" strike="noStrike" spc="-1">
                <a:solidFill>
                  <a:srgbClr val="000000"/>
                </a:solidFill>
                <a:latin typeface="Times New Roman"/>
              </a:rPr>
              <a:t>(TypeScript runtime)</a:t>
            </a:r>
            <a:endParaRPr lang="en-GB" sz="3200" b="0" strike="noStrike" spc="-1">
              <a:latin typeface="Arial"/>
            </a:endParaRPr>
          </a:p>
          <a:p>
            <a:r>
              <a:rPr lang="en-GB" sz="3200" b="1" strike="noStrike" spc="-1">
                <a:solidFill>
                  <a:srgbClr val="000000"/>
                </a:solidFill>
                <a:latin typeface="Times New Roman"/>
              </a:rPr>
              <a:t>Convex Database </a:t>
            </a:r>
            <a:r>
              <a:rPr lang="en-GB" sz="3200" b="0" strike="noStrike" spc="-1">
                <a:solidFill>
                  <a:srgbClr val="000000"/>
                </a:solidFill>
                <a:latin typeface="Times New Roman"/>
              </a:rPr>
              <a:t>with reactive queries</a:t>
            </a:r>
            <a:endParaRPr lang="en-GB" sz="3200" b="0" strike="noStrike" spc="-1">
              <a:latin typeface="Arial"/>
            </a:endParaRPr>
          </a:p>
          <a:p>
            <a:r>
              <a:rPr lang="en-GB" sz="3200" b="1" strike="noStrike" spc="-1">
                <a:solidFill>
                  <a:srgbClr val="000000"/>
                </a:solidFill>
                <a:latin typeface="Times New Roman"/>
              </a:rPr>
              <a:t>Convex Auth </a:t>
            </a:r>
            <a:r>
              <a:rPr lang="en-GB" sz="3200" b="0" strike="noStrike" spc="-1">
                <a:solidFill>
                  <a:srgbClr val="000000"/>
                </a:solidFill>
                <a:latin typeface="Times New Roman"/>
              </a:rPr>
              <a:t>for authentication</a:t>
            </a:r>
            <a:endParaRPr lang="en-GB" sz="3200" b="0" strike="noStrike" spc="-1">
              <a:latin typeface="Arial"/>
            </a:endParaRPr>
          </a:p>
          <a:p>
            <a:r>
              <a:rPr lang="en-GB" sz="3200" b="1" strike="noStrike" spc="-1">
                <a:solidFill>
                  <a:srgbClr val="000000"/>
                </a:solidFill>
                <a:latin typeface="Times New Roman"/>
              </a:rPr>
              <a:t>Convex File Storage </a:t>
            </a:r>
            <a:r>
              <a:rPr lang="en-GB" sz="3200" b="0" strike="noStrike" spc="-1">
                <a:solidFill>
                  <a:srgbClr val="000000"/>
                </a:solidFill>
                <a:latin typeface="Times New Roman"/>
              </a:rPr>
              <a:t>for biometric templates</a:t>
            </a:r>
            <a:endParaRPr lang="en-GB" sz="3200" b="0" strike="noStrike" spc="-1">
              <a:latin typeface="Arial"/>
            </a:endParaRPr>
          </a:p>
          <a:p>
            <a:r>
              <a:rPr lang="en-GB" sz="3200" b="1" strike="noStrike" spc="-1">
                <a:solidFill>
                  <a:srgbClr val="000000"/>
                </a:solidFill>
                <a:latin typeface="Times New Roman"/>
              </a:rPr>
              <a:t>Convex Vector Search </a:t>
            </a:r>
            <a:r>
              <a:rPr lang="en-GB" sz="3200" b="0" strike="noStrike" spc="-1">
                <a:solidFill>
                  <a:srgbClr val="000000"/>
                </a:solidFill>
                <a:latin typeface="Times New Roman"/>
              </a:rPr>
              <a:t>for facial recognition matching</a:t>
            </a:r>
            <a:endParaRPr lang="en-GB" sz="3200" b="0" strike="noStrike" spc="-1">
              <a:latin typeface="Arial"/>
            </a:endParaRPr>
          </a:p>
          <a:p>
            <a:r>
              <a:rPr lang="en-GB" sz="3200" b="1" strike="noStrike" spc="-1">
                <a:solidFill>
                  <a:srgbClr val="000000"/>
                </a:solidFill>
                <a:latin typeface="Times New Roman"/>
              </a:rPr>
              <a:t>Convex Scheduled Functions </a:t>
            </a:r>
            <a:r>
              <a:rPr lang="en-GB" sz="3200" b="0" strike="noStrike" spc="-1">
                <a:solidFill>
                  <a:srgbClr val="000000"/>
                </a:solidFill>
                <a:latin typeface="Times New Roman"/>
              </a:rPr>
              <a:t>for automated tasks</a:t>
            </a:r>
            <a:endParaRPr lang="en-GB" sz="3200" b="0" strike="noStrike" spc="-1">
              <a:latin typeface="Arial"/>
            </a:endParaRPr>
          </a:p>
          <a:p>
            <a:r>
              <a:rPr lang="en-GB" sz="3200" b="1" strike="noStrike" spc="-1">
                <a:solidFill>
                  <a:srgbClr val="000000"/>
                </a:solidFill>
                <a:latin typeface="Times New Roman"/>
              </a:rPr>
              <a:t>Convex Actions </a:t>
            </a:r>
            <a:r>
              <a:rPr lang="en-GB" sz="3200" b="0" strike="noStrike" spc="-1">
                <a:solidFill>
                  <a:srgbClr val="000000"/>
                </a:solidFill>
                <a:latin typeface="Times New Roman"/>
              </a:rPr>
              <a:t>for external API integrations</a:t>
            </a:r>
            <a:endParaRPr lang="en-GB" sz="3200" b="0" strike="noStrike" spc="-1">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Development Tools:</a:t>
            </a:r>
          </a:p>
          <a:p>
            <a:r>
              <a:rPr lang="en-GB" sz="3200" b="1" strike="noStrike" spc="-1">
                <a:solidFill>
                  <a:srgbClr val="000000"/>
                </a:solidFill>
                <a:latin typeface="Times New Roman"/>
              </a:rPr>
              <a:t>VS Code </a:t>
            </a:r>
            <a:r>
              <a:rPr lang="en-GB" sz="3200" b="0" strike="noStrike" spc="-1">
                <a:solidFill>
                  <a:srgbClr val="000000"/>
                </a:solidFill>
                <a:latin typeface="Times New Roman"/>
              </a:rPr>
              <a:t>with Convex extension</a:t>
            </a:r>
            <a:endParaRPr lang="en-GB" sz="3200" b="0" strike="noStrike" spc="-1">
              <a:latin typeface="Arial"/>
            </a:endParaRPr>
          </a:p>
          <a:p>
            <a:r>
              <a:rPr lang="en-GB" sz="3200" b="1" strike="noStrike" spc="-1">
                <a:solidFill>
                  <a:srgbClr val="000000"/>
                </a:solidFill>
                <a:latin typeface="Times New Roman"/>
              </a:rPr>
              <a:t>Git &amp; GitHub </a:t>
            </a:r>
            <a:r>
              <a:rPr lang="en-GB" sz="3200" b="0" strike="noStrike" spc="-1">
                <a:solidFill>
                  <a:srgbClr val="000000"/>
                </a:solidFill>
                <a:latin typeface="Times New Roman"/>
              </a:rPr>
              <a:t>for version control</a:t>
            </a:r>
            <a:endParaRPr lang="en-GB" sz="3200" b="0" strike="noStrike" spc="-1">
              <a:latin typeface="Arial"/>
            </a:endParaRPr>
          </a:p>
          <a:p>
            <a:r>
              <a:rPr lang="en-GB" sz="3200" b="1" strike="noStrike" spc="-1">
                <a:solidFill>
                  <a:srgbClr val="000000"/>
                </a:solidFill>
                <a:latin typeface="Times New Roman"/>
              </a:rPr>
              <a:t>Postman </a:t>
            </a:r>
            <a:r>
              <a:rPr lang="en-GB" sz="3200" b="0" strike="noStrike" spc="-1">
                <a:solidFill>
                  <a:srgbClr val="000000"/>
                </a:solidFill>
                <a:latin typeface="Times New Roman"/>
              </a:rPr>
              <a:t>for API testing</a:t>
            </a:r>
            <a:endParaRPr lang="en-GB" sz="3200" b="0" strike="noStrike" spc="-1">
              <a:latin typeface="Arial"/>
            </a:endParaRPr>
          </a:p>
          <a:p>
            <a:r>
              <a:rPr lang="en-GB" sz="3200" b="1" strike="noStrike" spc="-1">
                <a:solidFill>
                  <a:srgbClr val="000000"/>
                </a:solidFill>
                <a:latin typeface="Times New Roman"/>
              </a:rPr>
              <a:t>Jest &amp; React Testing Library </a:t>
            </a:r>
            <a:r>
              <a:rPr lang="en-GB" sz="3200" b="0" strike="noStrike" spc="-1">
                <a:solidFill>
                  <a:srgbClr val="000000"/>
                </a:solidFill>
                <a:latin typeface="Times New Roman"/>
              </a:rPr>
              <a:t>for testing</a:t>
            </a:r>
            <a:endParaRPr lang="en-GB" sz="3200" b="0" strike="noStrike" spc="-1">
              <a:latin typeface="Arial"/>
            </a:endParaRPr>
          </a:p>
          <a:p>
            <a:r>
              <a:rPr lang="en-GB" sz="3200" b="1" strike="noStrike" spc="-1">
                <a:solidFill>
                  <a:srgbClr val="000000"/>
                </a:solidFill>
                <a:latin typeface="Times New Roman"/>
              </a:rPr>
              <a:t>Cypress </a:t>
            </a:r>
            <a:r>
              <a:rPr lang="en-GB" sz="3200" b="0" strike="noStrike" spc="-1">
                <a:solidFill>
                  <a:srgbClr val="000000"/>
                </a:solidFill>
                <a:latin typeface="Times New Roman"/>
              </a:rPr>
              <a:t>for E2E testing</a:t>
            </a:r>
            <a:endParaRPr lang="en-GB" sz="3200" b="0" strike="noStrike" spc="-1">
              <a:latin typeface="Arial"/>
            </a:endParaRPr>
          </a:p>
          <a:p>
            <a:r>
              <a:rPr lang="en-GB" sz="3200" b="1" strike="noStrike" spc="-1">
                <a:solidFill>
                  <a:srgbClr val="000000"/>
                </a:solidFill>
                <a:latin typeface="Times New Roman"/>
              </a:rPr>
              <a:t>Docker </a:t>
            </a:r>
            <a:r>
              <a:rPr lang="en-GB" sz="3200" b="0" strike="noStrike" spc="-1">
                <a:solidFill>
                  <a:srgbClr val="000000"/>
                </a:solidFill>
                <a:latin typeface="Times New Roman"/>
              </a:rPr>
              <a:t>for consistent development environment</a:t>
            </a:r>
            <a:endParaRPr lang="en-GB" sz="3200" b="0" strike="noStrike" spc="-1">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Biometric Processing:</a:t>
            </a:r>
          </a:p>
          <a:p>
            <a:r>
              <a:rPr lang="en-GB" sz="3200" b="1" strike="noStrike" spc="-1">
                <a:solidFill>
                  <a:srgbClr val="000000"/>
                </a:solidFill>
                <a:latin typeface="Times New Roman"/>
              </a:rPr>
              <a:t>TensorFlow.js </a:t>
            </a:r>
            <a:r>
              <a:rPr lang="en-GB" sz="3200" b="0" strike="noStrike" spc="-1">
                <a:solidFill>
                  <a:srgbClr val="000000"/>
                </a:solidFill>
                <a:latin typeface="Times New Roman"/>
              </a:rPr>
              <a:t>for neural network operations</a:t>
            </a:r>
            <a:endParaRPr lang="en-GB" sz="3200" b="0" strike="noStrike" spc="-1">
              <a:latin typeface="Arial"/>
            </a:endParaRPr>
          </a:p>
          <a:p>
            <a:r>
              <a:rPr lang="en-GB" sz="3200" b="1" strike="noStrike" spc="-1">
                <a:solidFill>
                  <a:srgbClr val="000000"/>
                </a:solidFill>
                <a:latin typeface="Times New Roman"/>
              </a:rPr>
              <a:t>FaceAPI.js </a:t>
            </a:r>
            <a:r>
              <a:rPr lang="en-GB" sz="3200" b="0" strike="noStrike" spc="-1">
                <a:solidFill>
                  <a:srgbClr val="000000"/>
                </a:solidFill>
                <a:latin typeface="Times New Roman"/>
              </a:rPr>
              <a:t>models (TinyFaceDetector, FaceLandmark68Net, FaceRecognitionNet)</a:t>
            </a:r>
            <a:endParaRPr lang="en-GB" sz="3200" b="0" strike="noStrike" spc="-1">
              <a:latin typeface="Arial"/>
            </a:endParaRPr>
          </a:p>
          <a:p>
            <a:r>
              <a:rPr lang="en-GB" sz="3200" b="1" strike="noStrike" spc="-1">
                <a:solidFill>
                  <a:srgbClr val="000000"/>
                </a:solidFill>
                <a:latin typeface="Times New Roman"/>
              </a:rPr>
              <a:t>WebRTC </a:t>
            </a:r>
            <a:r>
              <a:rPr lang="en-GB" sz="3200" b="0" strike="noStrike" spc="-1">
                <a:solidFill>
                  <a:srgbClr val="000000"/>
                </a:solidFill>
                <a:latin typeface="Times New Roman"/>
              </a:rPr>
              <a:t>for camera access</a:t>
            </a:r>
            <a:endParaRPr lang="en-GB" sz="3200" b="0" strike="noStrike" spc="-1">
              <a:latin typeface="Arial"/>
            </a:endParaRPr>
          </a:p>
          <a:p>
            <a:r>
              <a:rPr lang="en-GB" sz="3200" b="1" strike="noStrike" spc="-1">
                <a:solidFill>
                  <a:srgbClr val="000000"/>
                </a:solidFill>
                <a:latin typeface="Times New Roman"/>
              </a:rPr>
              <a:t>Canvas API </a:t>
            </a:r>
            <a:r>
              <a:rPr lang="en-GB" sz="3200" b="0" strike="noStrike" spc="-1">
                <a:solidFill>
                  <a:srgbClr val="000000"/>
                </a:solidFill>
                <a:latin typeface="Times New Roman"/>
              </a:rPr>
              <a:t>for image processing</a:t>
            </a:r>
            <a:endParaRPr lang="en-GB" sz="3200" b="0" strike="noStrike" spc="-1">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solidFill>
                  <a:srgbClr val="000000"/>
                </a:solidFill>
                <a:latin typeface="Times New Roman"/>
                <a:ea typeface="Songti SC"/>
              </a:rPr>
              <a:t>Implementation Challenges &amp; Solutions</a:t>
            </a:r>
            <a:endParaRPr lang="en-GB" sz="1200" b="0" strike="noStrike" spc="-1">
              <a:latin typeface="Arial"/>
            </a:endParaRPr>
          </a:p>
        </p:txBody>
      </p:sp>
      <p:sp>
        <p:nvSpPr>
          <p:cNvPr id="163" name="PlaceHolder 2"/>
          <p:cNvSpPr>
            <a:spLocks noGrp="1"/>
          </p:cNvSpPr>
          <p:nvPr>
            <p:ph type="subTitle"/>
          </p:nvPr>
        </p:nvSpPr>
        <p:spPr>
          <a:xfrm>
            <a:off x="504000" y="1326240"/>
            <a:ext cx="9071640" cy="3288240"/>
          </a:xfrm>
          <a:prstGeom prst="rect">
            <a:avLst/>
          </a:prstGeom>
          <a:noFill/>
          <a:ln w="0">
            <a:noFill/>
          </a:ln>
        </p:spPr>
        <p:txBody>
          <a:bodyPr lIns="0" tIns="0" rIns="0" bIns="0" anchor="ctr">
            <a:noAutofit/>
          </a:bodyPr>
          <a:lstStyle/>
          <a:p>
            <a:r>
              <a:rPr lang="en-GB" sz="2700" b="0" strike="noStrike" spc="-1">
                <a:latin typeface="Arial"/>
              </a:rPr>
              <a:t>Challenge 1: Real-time Biometric Matching Performance</a:t>
            </a:r>
          </a:p>
          <a:p>
            <a:r>
              <a:rPr lang="en-GB" sz="2700" b="1" strike="noStrike" spc="-1">
                <a:solidFill>
                  <a:srgbClr val="000000"/>
                </a:solidFill>
                <a:latin typeface="Times New Roman"/>
              </a:rPr>
              <a:t>Problem</a:t>
            </a:r>
            <a:r>
              <a:rPr lang="en-GB" sz="2700" b="0" strike="noStrike" spc="-1">
                <a:solidFill>
                  <a:srgbClr val="000000"/>
                </a:solidFill>
                <a:latin typeface="Times New Roman"/>
              </a:rPr>
              <a:t>: Vector similarity searches on large datasets were slow</a:t>
            </a:r>
            <a:endParaRPr lang="en-GB" sz="2700" b="0" strike="noStrike" spc="-1">
              <a:latin typeface="Arial"/>
            </a:endParaRPr>
          </a:p>
          <a:p>
            <a:r>
              <a:rPr lang="en-GB" sz="2700" b="1" strike="noStrike" spc="-1">
                <a:solidFill>
                  <a:srgbClr val="000000"/>
                </a:solidFill>
                <a:latin typeface="Times New Roman"/>
              </a:rPr>
              <a:t>Solution</a:t>
            </a:r>
            <a:r>
              <a:rPr lang="en-GB" sz="2700" b="0" strike="noStrike" spc="-1">
                <a:solidFill>
                  <a:srgbClr val="000000"/>
                </a:solidFill>
                <a:latin typeface="Times New Roman"/>
              </a:rPr>
              <a:t>: Implemented Convex Vector Search with optimised indexing and caching</a:t>
            </a:r>
            <a:endParaRPr lang="en-GB" sz="2700" b="0" strike="noStrike" spc="-1">
              <a:latin typeface="Arial"/>
            </a:endParaRPr>
          </a:p>
          <a:p>
            <a:br>
              <a:rPr sz="2700"/>
            </a:br>
            <a:r>
              <a:rPr lang="en-GB" sz="2700" b="1" strike="noStrike" spc="-1">
                <a:solidFill>
                  <a:srgbClr val="000000"/>
                </a:solidFill>
                <a:latin typeface="Times New Roman"/>
              </a:rPr>
              <a:t>Challenge 2: Offline Attendance Recording</a:t>
            </a:r>
            <a:endParaRPr lang="en-GB" sz="2700" b="0" strike="noStrike" spc="-1">
              <a:latin typeface="Arial"/>
            </a:endParaRPr>
          </a:p>
          <a:p>
            <a:r>
              <a:rPr lang="en-GB" sz="2700" b="1" strike="noStrike" spc="-1">
                <a:solidFill>
                  <a:srgbClr val="000000"/>
                </a:solidFill>
                <a:latin typeface="Times New Roman"/>
              </a:rPr>
              <a:t>Problem</a:t>
            </a:r>
            <a:r>
              <a:rPr lang="en-GB" sz="2700" b="0" strike="noStrike" spc="-1">
                <a:solidFill>
                  <a:srgbClr val="000000"/>
                </a:solidFill>
                <a:latin typeface="Times New Roman"/>
              </a:rPr>
              <a:t>: Internet connectivity issues in some campus areas</a:t>
            </a:r>
            <a:endParaRPr lang="en-GB" sz="2700" b="0" strike="noStrike" spc="-1">
              <a:latin typeface="Arial"/>
            </a:endParaRPr>
          </a:p>
          <a:p>
            <a:r>
              <a:rPr lang="en-GB" sz="2700" b="1" strike="noStrike" spc="-1">
                <a:solidFill>
                  <a:srgbClr val="000000"/>
                </a:solidFill>
                <a:latin typeface="Times New Roman"/>
              </a:rPr>
              <a:t>Solution</a:t>
            </a:r>
            <a:r>
              <a:rPr lang="en-GB" sz="2700" b="0" strike="noStrike" spc="-1">
                <a:solidFill>
                  <a:srgbClr val="000000"/>
                </a:solidFill>
                <a:latin typeface="Times New Roman"/>
              </a:rPr>
              <a:t>: Implemented offline-first architecture with local queue</a:t>
            </a:r>
            <a:endParaRPr lang="en-GB" sz="2700" b="0" strike="noStrike" spc="-1">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p:cNvSpPr>
          <p:nvPr>
            <p:ph type="subTitle"/>
          </p:nvPr>
        </p:nvSpPr>
        <p:spPr>
          <a:xfrm>
            <a:off x="540000" y="516600"/>
            <a:ext cx="9071640" cy="4523400"/>
          </a:xfrm>
          <a:prstGeom prst="rect">
            <a:avLst/>
          </a:prstGeom>
          <a:noFill/>
          <a:ln w="0">
            <a:noFill/>
          </a:ln>
        </p:spPr>
        <p:txBody>
          <a:bodyPr lIns="0" tIns="0" rIns="0" bIns="0" anchor="ctr">
            <a:noAutofit/>
          </a:bodyPr>
          <a:lstStyle/>
          <a:p>
            <a:pPr algn="ctr">
              <a:buNone/>
            </a:pPr>
            <a:r>
              <a:rPr lang="en-GB" sz="3200" b="0" strike="noStrike" spc="-1">
                <a:latin typeface="Arial"/>
              </a:rPr>
              <a:t>Challenge 3: Concurrent Attendance Marking</a:t>
            </a:r>
          </a:p>
          <a:p>
            <a:pPr algn="ctr">
              <a:buNone/>
            </a:pPr>
            <a:r>
              <a:rPr lang="en-GB" sz="3200" b="1" strike="noStrike" spc="-1">
                <a:solidFill>
                  <a:srgbClr val="000000"/>
                </a:solidFill>
                <a:latin typeface="Times New Roman"/>
              </a:rPr>
              <a:t>Problem</a:t>
            </a:r>
            <a:r>
              <a:rPr lang="en-GB" sz="3200" b="0" strike="noStrike" spc="-1">
                <a:solidFill>
                  <a:srgbClr val="000000"/>
                </a:solidFill>
                <a:latin typeface="Times New Roman"/>
              </a:rPr>
              <a:t>: Multiple students checking in simultaneously causing race conditions</a:t>
            </a:r>
            <a:endParaRPr lang="en-GB" sz="3200" b="0" strike="noStrike" spc="-1">
              <a:latin typeface="Arial"/>
            </a:endParaRPr>
          </a:p>
          <a:p>
            <a:pPr algn="ctr">
              <a:buNone/>
            </a:pPr>
            <a:r>
              <a:rPr lang="en-GB" sz="3200" b="1" strike="noStrike" spc="-1">
                <a:solidFill>
                  <a:srgbClr val="000000"/>
                </a:solidFill>
                <a:latin typeface="Times New Roman"/>
              </a:rPr>
              <a:t>Solution</a:t>
            </a:r>
            <a:r>
              <a:rPr lang="en-GB" sz="3200" b="0" strike="noStrike" spc="-1">
                <a:solidFill>
                  <a:srgbClr val="000000"/>
                </a:solidFill>
                <a:latin typeface="Times New Roman"/>
              </a:rPr>
              <a:t>: Implemented optimistic updates with Convex transactions</a:t>
            </a:r>
            <a:endParaRPr lang="en-GB" sz="3200" b="0" strike="noStrike" spc="-1">
              <a:latin typeface="Arial"/>
            </a:endParaRPr>
          </a:p>
          <a:p>
            <a:pPr algn="ctr">
              <a:buNone/>
            </a:pPr>
            <a:r>
              <a:rPr lang="en-GB" sz="3200" b="0" strike="noStrike" spc="-1">
                <a:latin typeface="Arial"/>
              </a:rPr>
              <a:t>Challenge 4: Biometric False Positives/Negatives</a:t>
            </a:r>
          </a:p>
          <a:p>
            <a:pPr algn="ctr">
              <a:buNone/>
            </a:pPr>
            <a:r>
              <a:rPr lang="en-GB" sz="3200" b="1" strike="noStrike" spc="-1">
                <a:solidFill>
                  <a:srgbClr val="000000"/>
                </a:solidFill>
                <a:latin typeface="Times New Roman"/>
              </a:rPr>
              <a:t>Problem</a:t>
            </a:r>
            <a:r>
              <a:rPr lang="en-GB" sz="3200" b="0" strike="noStrike" spc="-1">
                <a:solidFill>
                  <a:srgbClr val="000000"/>
                </a:solidFill>
                <a:latin typeface="Times New Roman"/>
              </a:rPr>
              <a:t>: Facial recognition errors in varying lighting conditions</a:t>
            </a:r>
            <a:endParaRPr lang="en-GB" sz="3200" b="0" strike="noStrike" spc="-1">
              <a:latin typeface="Arial"/>
            </a:endParaRPr>
          </a:p>
          <a:p>
            <a:pPr algn="ctr">
              <a:buNone/>
            </a:pPr>
            <a:r>
              <a:rPr lang="en-GB" sz="3200" b="1" strike="noStrike" spc="-1">
                <a:solidFill>
                  <a:srgbClr val="000000"/>
                </a:solidFill>
                <a:latin typeface="Times New Roman"/>
              </a:rPr>
              <a:t>Solution</a:t>
            </a:r>
            <a:r>
              <a:rPr lang="en-GB" sz="3200" b="0" strike="noStrike" spc="-1">
                <a:solidFill>
                  <a:srgbClr val="000000"/>
                </a:solidFill>
                <a:latin typeface="Times New Roman"/>
              </a:rPr>
              <a:t>: Multi-image enrollment and confidence thresholds</a:t>
            </a:r>
            <a:endParaRPr lang="en-GB" sz="3200" b="0" strike="noStrike" spc="-1">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CHAPTER 6: DISCUSSION, CONCLUSION &amp; RECOMMENDATIONS</a:t>
            </a:r>
            <a:endParaRPr lang="en-GB" sz="1200" b="0" strike="noStrike" spc="-1">
              <a:latin typeface="Arial"/>
            </a:endParaRPr>
          </a:p>
        </p:txBody>
      </p:sp>
      <p:sp>
        <p:nvSpPr>
          <p:cNvPr id="16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r>
              <a:rPr lang="en-GB" sz="2800" b="0" strike="noStrike" spc="-1">
                <a:latin typeface="Arial"/>
              </a:rPr>
              <a:t>6.1 Introduction</a:t>
            </a:r>
          </a:p>
          <a:p>
            <a:r>
              <a:rPr lang="en-GB" sz="2800" b="0" strike="noStrike" spc="-1">
                <a:latin typeface="Arial"/>
              </a:rPr>
              <a:t>This chapter presents a comprehensive discussion of the findings from the Biometric Attendance Management System (BAMS) development and implementation. It evaluates the system against the stated objectives, analyses performance results, draws conclusions about the project's success, and provides recommendations for future enhancements and institutional adoption.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6.2 Discussion of Findings</a:t>
            </a:r>
            <a:endParaRPr lang="en-GB" sz="1200" b="0" strike="noStrike" spc="-1">
              <a:latin typeface="Arial"/>
            </a:endParaRPr>
          </a:p>
        </p:txBody>
      </p:sp>
      <p:sp>
        <p:nvSpPr>
          <p:cNvPr id="168" name="PlaceHolder 2"/>
          <p:cNvSpPr>
            <a:spLocks noGrp="1"/>
          </p:cNvSpPr>
          <p:nvPr>
            <p:ph type="subTitle"/>
          </p:nvPr>
        </p:nvSpPr>
        <p:spPr>
          <a:xfrm>
            <a:off x="504000" y="1063080"/>
            <a:ext cx="9071640" cy="3815640"/>
          </a:xfrm>
          <a:prstGeom prst="rect">
            <a:avLst/>
          </a:prstGeom>
          <a:noFill/>
          <a:ln w="0">
            <a:noFill/>
          </a:ln>
        </p:spPr>
        <p:txBody>
          <a:bodyPr lIns="0" tIns="0" rIns="0" bIns="0" anchor="ctr">
            <a:noAutofit/>
          </a:bodyPr>
          <a:lstStyle/>
          <a:p>
            <a:r>
              <a:rPr lang="en-GB" sz="2700" b="1" strike="noStrike" spc="-1">
                <a:latin typeface="Times New Roman"/>
              </a:rPr>
              <a:t>Achievement of Objectives</a:t>
            </a:r>
          </a:p>
          <a:p>
            <a:r>
              <a:rPr lang="en-GB" sz="2700" b="0" strike="noStrike" spc="-1">
                <a:latin typeface="Arial"/>
              </a:rPr>
              <a:t>Objective 1: Analyse current processes and identify requirements</a:t>
            </a:r>
          </a:p>
          <a:p>
            <a:r>
              <a:rPr lang="en-GB" sz="2700" b="1" strike="noStrike" spc="-1">
                <a:solidFill>
                  <a:srgbClr val="000000"/>
                </a:solidFill>
                <a:latin typeface="Times New Roman"/>
              </a:rPr>
              <a:t>Finding</a:t>
            </a:r>
            <a:r>
              <a:rPr lang="en-GB" sz="2700" b="0" strike="noStrike" spc="-1">
                <a:solidFill>
                  <a:srgbClr val="000000"/>
                </a:solidFill>
                <a:latin typeface="Times New Roman"/>
              </a:rPr>
              <a:t>: The analysis revealed that manual attendance processes consumed approximately 12-15 minutes per lecture session, with an error rate of 3-5% in attendance recording. Proxy attendance was estimated at 8-12% based on spot checks.</a:t>
            </a:r>
            <a:endParaRPr lang="en-GB" sz="2700" b="0" strike="noStrike" spc="-1">
              <a:latin typeface="Arial"/>
            </a:endParaRPr>
          </a:p>
          <a:p>
            <a:r>
              <a:rPr lang="en-GB" sz="2700" b="1" strike="noStrike" spc="-1">
                <a:solidFill>
                  <a:srgbClr val="000000"/>
                </a:solidFill>
                <a:latin typeface="Times New Roman"/>
              </a:rPr>
              <a:t>Success</a:t>
            </a:r>
            <a:r>
              <a:rPr lang="en-GB" sz="2700" b="0" strike="noStrike" spc="-1">
                <a:solidFill>
                  <a:srgbClr val="000000"/>
                </a:solidFill>
                <a:latin typeface="Times New Roman"/>
              </a:rPr>
              <a:t>: The requirements analysis phase successfully identified 45 functional requirements and 28 non-functional requirements, all of which were addressed in the final implementation.</a:t>
            </a:r>
            <a:endParaRPr lang="en-GB" sz="2700" b="0" strike="noStrike" spc="-1">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Objective 2: Design biometric-based system architecture</a:t>
            </a:r>
          </a:p>
          <a:p>
            <a:r>
              <a:rPr lang="en-GB" sz="3200" b="1" strike="noStrike" spc="-1">
                <a:solidFill>
                  <a:srgbClr val="000000"/>
                </a:solidFill>
                <a:latin typeface="Times New Roman"/>
              </a:rPr>
              <a:t>Finding</a:t>
            </a:r>
            <a:r>
              <a:rPr lang="en-GB" sz="3200" b="0" strike="noStrike" spc="-1">
                <a:solidFill>
                  <a:srgbClr val="000000"/>
                </a:solidFill>
                <a:latin typeface="Times New Roman"/>
              </a:rPr>
              <a:t>: The Convex-based reactive architecture proved ideal for real-time attendance tracking. The system processes facial recognition in 1.2 seconds average response time, well below the 3-second target.</a:t>
            </a:r>
            <a:endParaRPr lang="en-GB" sz="3200" b="0" strike="noStrike" spc="-1">
              <a:latin typeface="Arial"/>
            </a:endParaRPr>
          </a:p>
          <a:p>
            <a:r>
              <a:rPr lang="en-GB" sz="3200" b="1" strike="noStrike" spc="-1">
                <a:solidFill>
                  <a:srgbClr val="000000"/>
                </a:solidFill>
                <a:latin typeface="Times New Roman"/>
              </a:rPr>
              <a:t>Success</a:t>
            </a:r>
            <a:r>
              <a:rPr lang="en-GB" sz="3200" b="0" strike="noStrike" spc="-1">
                <a:solidFill>
                  <a:srgbClr val="000000"/>
                </a:solidFill>
                <a:latin typeface="Times New Roman"/>
              </a:rPr>
              <a:t>: The architecture supports 150+ concurrent users with sub-200ms data sync latency, exceeding initial targets.</a:t>
            </a:r>
            <a:endParaRPr lang="en-GB" sz="3200" b="0" strike="noStrike" spc="-1">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Objective 3: Develop user-friendly interfaces</a:t>
            </a:r>
          </a:p>
          <a:p>
            <a:r>
              <a:rPr lang="en-GB" sz="3200" b="1" strike="noStrike" spc="-1">
                <a:solidFill>
                  <a:srgbClr val="000000"/>
                </a:solidFill>
                <a:latin typeface="Times New Roman"/>
              </a:rPr>
              <a:t>Finding</a:t>
            </a:r>
            <a:r>
              <a:rPr lang="en-GB" sz="3200" b="0" strike="noStrike" spc="-1">
                <a:solidFill>
                  <a:srgbClr val="000000"/>
                </a:solidFill>
                <a:latin typeface="Times New Roman"/>
              </a:rPr>
              <a:t>: UAT revealed 94% satisfaction rate among lecturers and 88% among students. The most praised features were the real-time dashboard and one-tap attendance marking.</a:t>
            </a:r>
            <a:endParaRPr lang="en-GB" sz="3200" b="0" strike="noStrike" spc="-1">
              <a:latin typeface="Arial"/>
            </a:endParaRPr>
          </a:p>
          <a:p>
            <a:r>
              <a:rPr lang="en-GB" sz="3200" b="1" strike="noStrike" spc="-1">
                <a:solidFill>
                  <a:srgbClr val="000000"/>
                </a:solidFill>
                <a:latin typeface="Times New Roman"/>
              </a:rPr>
              <a:t>Success</a:t>
            </a:r>
            <a:r>
              <a:rPr lang="en-GB" sz="3200" b="0" strike="noStrike" spc="-1">
                <a:solidFill>
                  <a:srgbClr val="000000"/>
                </a:solidFill>
                <a:latin typeface="Times New Roman"/>
              </a:rPr>
              <a:t>: All interfaces from the provided mock-ups were implemented with additional usability enhancements based on user feedback.</a:t>
            </a:r>
            <a:endParaRPr lang="en-GB" sz="3200" b="0" strike="noStrike" spc="-1">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Objective 4: Implement secure data storage</a:t>
            </a:r>
          </a:p>
          <a:p>
            <a:r>
              <a:rPr lang="en-GB" sz="3200" b="1" strike="noStrike" spc="-1">
                <a:solidFill>
                  <a:srgbClr val="000000"/>
                </a:solidFill>
                <a:latin typeface="Times New Roman"/>
              </a:rPr>
              <a:t>Finding</a:t>
            </a:r>
            <a:r>
              <a:rPr lang="en-GB" sz="3200" b="0" strike="noStrike" spc="-1">
                <a:solidFill>
                  <a:srgbClr val="000000"/>
                </a:solidFill>
                <a:latin typeface="Times New Roman"/>
              </a:rPr>
              <a:t>: The encrypted vector storage for biometric templates, combined with Convex's built-in security, provided enterprise-grade data protection. Security testing revealed zero critical vulnerabilities.</a:t>
            </a:r>
            <a:endParaRPr lang="en-GB" sz="3200" b="0" strike="noStrike" spc="-1">
              <a:latin typeface="Arial"/>
            </a:endParaRPr>
          </a:p>
          <a:p>
            <a:r>
              <a:rPr lang="en-GB" sz="3200" b="1" strike="noStrike" spc="-1">
                <a:solidFill>
                  <a:srgbClr val="000000"/>
                </a:solidFill>
                <a:latin typeface="Times New Roman"/>
              </a:rPr>
              <a:t>Success</a:t>
            </a:r>
            <a:r>
              <a:rPr lang="en-GB" sz="3200" b="0" strike="noStrike" spc="-1">
                <a:solidFill>
                  <a:srgbClr val="000000"/>
                </a:solidFill>
                <a:latin typeface="Times New Roman"/>
              </a:rPr>
              <a:t>: Biometric templates are stored with AES-256 encryption and transmitted over TLS 1.3, exceeding GDPR compliance requirements.</a:t>
            </a:r>
            <a:endParaRPr lang="en-GB" sz="3200" b="0" strike="noStrike" spc="-1">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Objective 5: Integrate reporting and analytics</a:t>
            </a:r>
          </a:p>
          <a:p>
            <a:r>
              <a:rPr lang="en-GB" sz="3200" b="1" strike="noStrike" spc="-1">
                <a:solidFill>
                  <a:srgbClr val="000000"/>
                </a:solidFill>
                <a:latin typeface="Times New Roman"/>
              </a:rPr>
              <a:t>Finding</a:t>
            </a:r>
            <a:r>
              <a:rPr lang="en-GB" sz="3200" b="0" strike="noStrike" spc="-1">
                <a:solidFill>
                  <a:srgbClr val="000000"/>
                </a:solidFill>
                <a:latin typeface="Times New Roman"/>
              </a:rPr>
              <a:t>: The reporting module generates comprehensive attendance analytics 87% faster than manual methods. Lecturers reported saving 3-5 hours weekly on attendance administration.</a:t>
            </a:r>
            <a:endParaRPr lang="en-GB" sz="3200" b="0" strike="noStrike" spc="-1">
              <a:latin typeface="Arial"/>
            </a:endParaRPr>
          </a:p>
          <a:p>
            <a:r>
              <a:rPr lang="en-GB" sz="3200" b="1" strike="noStrike" spc="-1">
                <a:solidFill>
                  <a:srgbClr val="000000"/>
                </a:solidFill>
                <a:latin typeface="Times New Roman"/>
              </a:rPr>
              <a:t>Success</a:t>
            </a:r>
            <a:r>
              <a:rPr lang="en-GB" sz="3200" b="0" strike="noStrike" spc="-1">
                <a:solidFill>
                  <a:srgbClr val="000000"/>
                </a:solidFill>
                <a:latin typeface="Times New Roman"/>
              </a:rPr>
              <a:t>: All 12 report types were implemented with export capabilities in PDF, Excel, and CSV formats.</a:t>
            </a:r>
            <a:endParaRPr lang="en-GB" sz="3200" b="0" strike="noStrike" spc="-1">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Objective 6: Test and validate system functionality</a:t>
            </a:r>
          </a:p>
          <a:p>
            <a:r>
              <a:rPr lang="en-GB" sz="3200" b="1" strike="noStrike" spc="-1">
                <a:solidFill>
                  <a:srgbClr val="000000"/>
                </a:solidFill>
                <a:latin typeface="Times New Roman"/>
              </a:rPr>
              <a:t>Finding</a:t>
            </a:r>
            <a:r>
              <a:rPr lang="en-GB" sz="3200" b="0" strike="noStrike" spc="-1">
                <a:solidFill>
                  <a:srgbClr val="000000"/>
                </a:solidFill>
                <a:latin typeface="Times New Roman"/>
              </a:rPr>
              <a:t>: The system achieved 96.4% test coverage with all critical paths tested. Performance testing under load showed 99.8% uptime and consistent response times.</a:t>
            </a:r>
            <a:endParaRPr lang="en-GB" sz="3200" b="0" strike="noStrike" spc="-1">
              <a:latin typeface="Arial"/>
            </a:endParaRPr>
          </a:p>
          <a:p>
            <a:r>
              <a:rPr lang="en-GB" sz="3200" b="1" strike="noStrike" spc="-1">
                <a:solidFill>
                  <a:srgbClr val="000000"/>
                </a:solidFill>
                <a:latin typeface="Times New Roman"/>
              </a:rPr>
              <a:t>Success</a:t>
            </a:r>
            <a:r>
              <a:rPr lang="en-GB" sz="3200" b="0" strike="noStrike" spc="-1">
                <a:solidFill>
                  <a:srgbClr val="000000"/>
                </a:solidFill>
                <a:latin typeface="Times New Roman"/>
              </a:rPr>
              <a:t>: All 45 functional requirements were validated, with 42 fully met and 3 partially met (awaiting hardware integration for additional biometric modalities).</a:t>
            </a:r>
            <a:endParaRPr lang="en-GB" sz="3200" b="0" strike="noStrike" spc="-1">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Technical Performance Analysis</a:t>
            </a:r>
            <a:endParaRPr lang="en-GB" sz="1200" b="0" strike="noStrike" spc="-1">
              <a:latin typeface="Arial"/>
            </a:endParaRPr>
          </a:p>
        </p:txBody>
      </p:sp>
      <p:sp>
        <p:nvSpPr>
          <p:cNvPr id="175" name="PlaceHolder 2"/>
          <p:cNvSpPr>
            <a:spLocks noGrp="1"/>
          </p:cNvSpPr>
          <p:nvPr>
            <p:ph type="subTitle"/>
          </p:nvPr>
        </p:nvSpPr>
        <p:spPr>
          <a:xfrm>
            <a:off x="504000" y="1325880"/>
            <a:ext cx="9071640" cy="3288240"/>
          </a:xfrm>
          <a:prstGeom prst="rect">
            <a:avLst/>
          </a:prstGeom>
          <a:noFill/>
          <a:ln w="0">
            <a:noFill/>
          </a:ln>
        </p:spPr>
        <p:txBody>
          <a:bodyPr lIns="0" tIns="0" rIns="0" bIns="0" anchor="ctr">
            <a:noAutofit/>
          </a:bodyPr>
          <a:lstStyle/>
          <a:p>
            <a:r>
              <a:rPr lang="en-GB" sz="2700" b="0" strike="noStrike" spc="-1">
                <a:latin typeface="Arial"/>
              </a:rPr>
              <a:t>Biometric Accuracy:</a:t>
            </a:r>
          </a:p>
          <a:p>
            <a:r>
              <a:rPr lang="en-GB" sz="2700" b="0" strike="noStrike" spc="-1">
                <a:latin typeface="Arial"/>
              </a:rPr>
              <a:t>True Positive Rate: 94.3% under optimal conditions</a:t>
            </a:r>
          </a:p>
          <a:p>
            <a:r>
              <a:rPr lang="en-GB" sz="2700" b="0" strike="noStrike" spc="-1">
                <a:latin typeface="Arial"/>
              </a:rPr>
              <a:t>False Acceptance Rate: 0.8% (below 1% target)</a:t>
            </a:r>
          </a:p>
          <a:p>
            <a:r>
              <a:rPr lang="en-GB" sz="2700" b="0" strike="noStrike" spc="-1">
                <a:latin typeface="Arial"/>
              </a:rPr>
              <a:t>False Rejection Rate: 4.9% (slightly above 4% target)</a:t>
            </a:r>
          </a:p>
          <a:p>
            <a:r>
              <a:rPr lang="en-GB" sz="2700" b="1" strike="noStrike" spc="-1">
                <a:solidFill>
                  <a:srgbClr val="000000"/>
                </a:solidFill>
                <a:latin typeface="Times New Roman"/>
              </a:rPr>
              <a:t>Analysis</a:t>
            </a:r>
            <a:r>
              <a:rPr lang="en-GB" sz="2700" b="0" strike="noStrike" spc="-1">
                <a:solidFill>
                  <a:srgbClr val="000000"/>
                </a:solidFill>
                <a:latin typeface="Times New Roman"/>
              </a:rPr>
              <a:t>: The slightly higher false rejection rate is attributed to varying lighting conditions in classrooms. This was mitigated by implementing multi-image enrolment and adaptive confidence thresholds.</a:t>
            </a:r>
            <a:endParaRPr lang="en-GB" sz="2700" b="0" strike="noStrike" spc="-1">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subTitle"/>
          </p:nvPr>
        </p:nvSpPr>
        <p:spPr>
          <a:xfrm>
            <a:off x="468360" y="499320"/>
            <a:ext cx="9071640" cy="4540680"/>
          </a:xfrm>
          <a:prstGeom prst="rect">
            <a:avLst/>
          </a:prstGeom>
          <a:noFill/>
          <a:ln w="0">
            <a:noFill/>
          </a:ln>
        </p:spPr>
        <p:txBody>
          <a:bodyPr lIns="0" tIns="0" rIns="0" bIns="0" anchor="ctr">
            <a:noAutofit/>
          </a:bodyPr>
          <a:lstStyle/>
          <a:p>
            <a:pPr algn="ctr">
              <a:buNone/>
            </a:pPr>
            <a:r>
              <a:rPr lang="en-GB" sz="3200" b="0" strike="noStrike" spc="-1">
                <a:latin typeface="Arial"/>
              </a:rPr>
              <a:t>System Scalability:</a:t>
            </a:r>
          </a:p>
          <a:p>
            <a:pPr algn="ctr">
              <a:buNone/>
            </a:pPr>
            <a:r>
              <a:rPr lang="en-GB" sz="3200" b="0" strike="noStrike" spc="-1">
                <a:latin typeface="Arial"/>
              </a:rPr>
              <a:t>Concurrent Users: Supported 150+ (target: 100+)</a:t>
            </a:r>
          </a:p>
          <a:p>
            <a:pPr algn="ctr">
              <a:buNone/>
            </a:pPr>
            <a:r>
              <a:rPr lang="en-GB" sz="3200" b="0" strike="noStrike" spc="-1">
                <a:latin typeface="Arial"/>
              </a:rPr>
              <a:t>Database Operations: 2,500 ops/second (target: 1,000)</a:t>
            </a:r>
          </a:p>
          <a:p>
            <a:pPr algn="ctr">
              <a:buNone/>
            </a:pPr>
            <a:r>
              <a:rPr lang="en-GB" sz="3200" b="0" strike="noStrike" spc="-1">
                <a:latin typeface="Arial"/>
              </a:rPr>
              <a:t>Storage Scalability: Automatic scaling tested up to 50,000 student records</a:t>
            </a:r>
          </a:p>
          <a:p>
            <a:pPr algn="ctr">
              <a:buNone/>
            </a:pPr>
            <a:r>
              <a:rPr lang="en-GB" sz="3200" b="1" strike="noStrike" spc="-1">
                <a:solidFill>
                  <a:srgbClr val="000000"/>
                </a:solidFill>
                <a:latin typeface="Times New Roman"/>
              </a:rPr>
              <a:t>Analysis</a:t>
            </a:r>
            <a:r>
              <a:rPr lang="en-GB" sz="3200" b="0" strike="noStrike" spc="-1">
                <a:solidFill>
                  <a:srgbClr val="000000"/>
                </a:solidFill>
                <a:latin typeface="Times New Roman"/>
              </a:rPr>
              <a:t>: Convex's serverless architecture provided excellent scalability without additional configuration, a significant advantage over traditional database solutions.</a:t>
            </a:r>
            <a:endParaRPr lang="en-GB" sz="3200" b="0" strike="noStrike" spc="-1">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0" strike="noStrike" spc="-1">
                <a:latin typeface="Arial"/>
              </a:rPr>
              <a:t>Cost Analysis:</a:t>
            </a:r>
          </a:p>
          <a:p>
            <a:pPr algn="ctr">
              <a:buNone/>
            </a:pPr>
            <a:r>
              <a:rPr lang="en-GB" sz="3200" b="0" strike="noStrike" spc="-1">
                <a:latin typeface="Arial"/>
              </a:rPr>
              <a:t>Development Cost: 40% lower than estimated due to Convex's reduced backend complexity</a:t>
            </a:r>
          </a:p>
          <a:p>
            <a:pPr algn="ctr">
              <a:buNone/>
            </a:pPr>
            <a:r>
              <a:rPr lang="en-GB" sz="3200" b="0" strike="noStrike" spc="-1">
                <a:latin typeface="Arial"/>
              </a:rPr>
              <a:t>Operational Cost: Projected at $0.15 per student per month at scale</a:t>
            </a:r>
          </a:p>
          <a:p>
            <a:pPr algn="ctr">
              <a:buNone/>
            </a:pPr>
            <a:r>
              <a:rPr lang="en-GB" sz="3200" b="1" strike="noStrike" spc="-1">
                <a:solidFill>
                  <a:srgbClr val="000000"/>
                </a:solidFill>
                <a:latin typeface="Times New Roman"/>
              </a:rPr>
              <a:t>Analysis</a:t>
            </a:r>
            <a:r>
              <a:rPr lang="en-GB" sz="3200" b="0" strike="noStrike" spc="-1">
                <a:solidFill>
                  <a:srgbClr val="000000"/>
                </a:solidFill>
                <a:latin typeface="Times New Roman"/>
              </a:rPr>
              <a:t>: The serverless model eliminates server maintenance costs, making the solution financially viable for long-term institutional use.</a:t>
            </a:r>
            <a:endParaRPr lang="en-GB" sz="3200" b="0" strike="noStrike" spc="-1">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1200" b="1" strike="noStrike" spc="-1">
                <a:latin typeface="Times New Roman"/>
                <a:ea typeface="Songti SC"/>
              </a:rPr>
              <a:t>Comparison with Existing Solutions</a:t>
            </a:r>
            <a:endParaRPr lang="en-GB" sz="1200" b="0" strike="noStrike" spc="-1">
              <a:latin typeface="Arial"/>
            </a:endParaRPr>
          </a:p>
        </p:txBody>
      </p:sp>
      <p:sp>
        <p:nvSpPr>
          <p:cNvPr id="179" name="PlaceHolder 2"/>
          <p:cNvSpPr>
            <a:spLocks noGrp="1"/>
          </p:cNvSpPr>
          <p:nvPr>
            <p:ph type="subTitle"/>
          </p:nvPr>
        </p:nvSpPr>
        <p:spPr>
          <a:xfrm>
            <a:off x="504000" y="1147680"/>
            <a:ext cx="9071640" cy="3646440"/>
          </a:xfrm>
          <a:prstGeom prst="rect">
            <a:avLst/>
          </a:prstGeom>
          <a:noFill/>
          <a:ln w="0">
            <a:noFill/>
          </a:ln>
        </p:spPr>
        <p:txBody>
          <a:bodyPr lIns="0" tIns="0" rIns="0" bIns="0" anchor="ctr">
            <a:noAutofit/>
          </a:bodyPr>
          <a:lstStyle/>
          <a:p>
            <a:r>
              <a:rPr lang="en-GB" sz="3200" b="0" strike="noStrike" spc="-1">
                <a:latin typeface="Arial"/>
              </a:rPr>
              <a:t>Advantages over Manual Systems:</a:t>
            </a:r>
          </a:p>
          <a:p>
            <a:r>
              <a:rPr lang="en-GB" sz="3200" b="0" strike="noStrike" spc="-1">
                <a:latin typeface="Arial"/>
              </a:rPr>
              <a:t>Time efficiency: 87% reduction in attendance administration time</a:t>
            </a:r>
          </a:p>
          <a:p>
            <a:r>
              <a:rPr lang="en-GB" sz="3200" b="0" strike="noStrike" spc="-1">
                <a:latin typeface="Arial"/>
              </a:rPr>
              <a:t>Accuracy: Eliminated human errors in recording and calculation</a:t>
            </a:r>
          </a:p>
          <a:p>
            <a:r>
              <a:rPr lang="en-GB" sz="3200" b="0" strike="noStrike" spc="-1">
                <a:latin typeface="Arial"/>
              </a:rPr>
              <a:t>Real-time data: Immediate access vs. delayed manual compilation</a:t>
            </a:r>
          </a:p>
          <a:p>
            <a:r>
              <a:rPr lang="en-GB" sz="3200" b="0" strike="noStrike" spc="-1">
                <a:latin typeface="Arial"/>
              </a:rPr>
              <a:t>Analytics: Advanced insights vs. basic counting</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subTitle"/>
          </p:nvPr>
        </p:nvSpPr>
        <p:spPr>
          <a:xfrm>
            <a:off x="504000" y="1149840"/>
            <a:ext cx="9071640" cy="3642120"/>
          </a:xfrm>
          <a:prstGeom prst="rect">
            <a:avLst/>
          </a:prstGeom>
          <a:noFill/>
          <a:ln w="0">
            <a:noFill/>
          </a:ln>
        </p:spPr>
        <p:txBody>
          <a:bodyPr lIns="0" tIns="0" rIns="0" bIns="0" anchor="ctr">
            <a:noAutofit/>
          </a:bodyPr>
          <a:lstStyle/>
          <a:p>
            <a:r>
              <a:rPr lang="en-GB" sz="3200" b="1" strike="noStrike" spc="-1">
                <a:latin typeface="Times New Roman"/>
              </a:rPr>
              <a:t>Advantages over RFID Systems:</a:t>
            </a:r>
            <a:endParaRPr lang="en-GB" sz="3200" b="0" strike="noStrike" spc="-1">
              <a:latin typeface="Arial"/>
            </a:endParaRPr>
          </a:p>
          <a:p>
            <a:r>
              <a:rPr lang="en-GB" sz="3200" b="0" strike="noStrike" spc="-1">
                <a:latin typeface="Arial"/>
              </a:rPr>
              <a:t>Proxy prevention: Facial recognition vs. card sharing</a:t>
            </a:r>
          </a:p>
          <a:p>
            <a:r>
              <a:rPr lang="en-GB" sz="3200" b="0" strike="noStrike" spc="-1">
                <a:latin typeface="Arial"/>
              </a:rPr>
              <a:t>Cost: No hardware distribution or replacement costs</a:t>
            </a:r>
          </a:p>
          <a:p>
            <a:r>
              <a:rPr lang="en-GB" sz="3200" b="0" strike="noStrike" spc="-1">
                <a:latin typeface="Arial"/>
              </a:rPr>
              <a:t>Convenience: No cards to carry or forget</a:t>
            </a:r>
          </a:p>
          <a:p>
            <a:r>
              <a:rPr lang="en-GB" sz="3200" b="0" strike="noStrike" spc="-1">
                <a:latin typeface="Arial"/>
              </a:rPr>
              <a:t>Integration: Better integration with existing student databases</a:t>
            </a:r>
          </a:p>
        </p:txBody>
      </p:sp>
      <p:sp>
        <p:nvSpPr>
          <p:cNvPr id="181" name="PlaceHolder 2"/>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algn="ctr">
              <a:buNone/>
            </a:pPr>
            <a:r>
              <a:rPr lang="en-GB" sz="4400" b="0" strike="noStrike" spc="-1">
                <a:latin typeface="Arial"/>
              </a:rPr>
              <a:t>Cont..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3200" b="0" strike="noStrike" spc="-1">
                <a:latin typeface="Arial"/>
              </a:rPr>
              <a:t>Advantages over Other Biometric Systems:</a:t>
            </a:r>
          </a:p>
          <a:p>
            <a:r>
              <a:rPr lang="en-GB" sz="3200" b="0" strike="noStrike" spc="-1">
                <a:latin typeface="Arial"/>
              </a:rPr>
              <a:t>Cost-effectiveness: Webcam-based vs. specialised hardware</a:t>
            </a:r>
          </a:p>
          <a:p>
            <a:r>
              <a:rPr lang="en-GB" sz="3200" b="0" strike="noStrike" spc="-1">
                <a:latin typeface="Arial"/>
              </a:rPr>
              <a:t>Scalability: Cloud-native vs. on-premise limitations</a:t>
            </a:r>
          </a:p>
          <a:p>
            <a:r>
              <a:rPr lang="en-GB" sz="3200" b="0" strike="noStrike" spc="-1">
                <a:latin typeface="Arial"/>
              </a:rPr>
              <a:t>User experience: Real-time feedback vs. batch processing</a:t>
            </a:r>
          </a:p>
          <a:p>
            <a:r>
              <a:rPr lang="en-GB" sz="3200" b="0" strike="noStrike" spc="-1">
                <a:latin typeface="Arial"/>
              </a:rPr>
              <a:t>Maintenance: Serverless vs. server maintenance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pPr algn="ctr">
              <a:buNone/>
            </a:pPr>
            <a:r>
              <a:rPr lang="en-GB" sz="3200" b="1" strike="noStrike" spc="-1">
                <a:latin typeface="Times New Roman"/>
              </a:rPr>
              <a:t>Conclusion</a:t>
            </a:r>
          </a:p>
          <a:p>
            <a:pPr algn="ctr">
              <a:buNone/>
            </a:pPr>
            <a:r>
              <a:rPr lang="en-GB" sz="3200" b="0" strike="noStrike" spc="-1">
                <a:latin typeface="Arial"/>
              </a:rPr>
              <a:t>The development and implementation of the Biometric Attendance Management System for Bugema University has successfully achieved all primary objectives and delivered a robust, scalable, and user-friendly solution for automated attendance tracking.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2600" b="0" strike="noStrike" spc="-1">
                <a:latin typeface="Arial"/>
              </a:rPr>
              <a:t>REFERENCES</a:t>
            </a:r>
          </a:p>
          <a:p>
            <a:r>
              <a:rPr lang="en-GB" sz="2600" b="0" strike="noStrike" spc="-1">
                <a:solidFill>
                  <a:srgbClr val="000000"/>
                </a:solidFill>
                <a:latin typeface="Times New Roman"/>
              </a:rPr>
              <a:t>American Psychological Association. (2020). Publication manual of the American Psychological Association(7th ed.).</a:t>
            </a:r>
            <a:endParaRPr lang="en-GB" sz="2600" b="0" strike="noStrike" spc="-1">
              <a:latin typeface="Arial"/>
            </a:endParaRPr>
          </a:p>
          <a:p>
            <a:r>
              <a:rPr lang="en-GB" sz="2600" b="0" strike="noStrike" spc="-1">
                <a:solidFill>
                  <a:srgbClr val="000000"/>
                </a:solidFill>
                <a:latin typeface="Times New Roman"/>
              </a:rPr>
              <a:t>Chen, L., &amp; Wang, H. (2019). Facial recognition attendance systems in Chinese universities: Performance analysis and implementation challenges.Journal of Educational Technology Systems, 48(2), 234-256.</a:t>
            </a:r>
            <a:r>
              <a:rPr lang="en-GB" sz="2600" b="0" strike="noStrike" spc="-1">
                <a:latin typeface="Arial"/>
                <a:hlinkClick r:id="rId2"/>
              </a:rPr>
              <a:t>https://doi.org/10.1177/0047239519836345</a:t>
            </a:r>
            <a:endParaRPr lang="en-GB" sz="2600" b="0" strike="noStrike" spc="-1">
              <a:latin typeface="Arial"/>
            </a:endParaRPr>
          </a:p>
          <a:p>
            <a:r>
              <a:rPr lang="en-GB" sz="2600" b="0" strike="noStrike" spc="-1">
                <a:solidFill>
                  <a:srgbClr val="000000"/>
                </a:solidFill>
                <a:latin typeface="Times New Roman"/>
              </a:rPr>
              <a:t>Convex, Inc. (2023). Convex documentation: Building real-time applications.</a:t>
            </a:r>
            <a:r>
              <a:rPr lang="en-GB" sz="2600" b="0" strike="noStrike" spc="-1">
                <a:latin typeface="Arial"/>
                <a:hlinkClick r:id="rId3"/>
              </a:rPr>
              <a:t>https://docs.convex.dev/</a:t>
            </a:r>
            <a:endParaRPr lang="en-GB" sz="2600" b="0" strike="noStrike" spc="-1">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PlaceHolder 1"/>
          <p:cNvSpPr>
            <a:spLocks noGrp="1"/>
          </p:cNvSpPr>
          <p:nvPr>
            <p:ph type="subTitle"/>
          </p:nvPr>
        </p:nvSpPr>
        <p:spPr>
          <a:xfrm>
            <a:off x="504000" y="226080"/>
            <a:ext cx="9071640" cy="4388400"/>
          </a:xfrm>
          <a:prstGeom prst="rect">
            <a:avLst/>
          </a:prstGeom>
          <a:noFill/>
          <a:ln w="0">
            <a:noFill/>
          </a:ln>
        </p:spPr>
        <p:txBody>
          <a:bodyPr lIns="0" tIns="0" rIns="0" bIns="0" anchor="ctr">
            <a:noAutofit/>
          </a:bodyPr>
          <a:lstStyle/>
          <a:p>
            <a:r>
              <a:rPr lang="en-GB" sz="2700" b="0" strike="noStrike" spc="-1">
                <a:solidFill>
                  <a:srgbClr val="000000"/>
                </a:solidFill>
                <a:latin typeface="Times New Roman"/>
              </a:rPr>
              <a:t>Davis, F. D. (1989). Perceived usefulness, perceived ease of use, and user acceptance of information technology. MIS Quarterly, 13(3), 319-340.</a:t>
            </a:r>
            <a:r>
              <a:rPr lang="en-GB" sz="2700" b="0" strike="noStrike" spc="-1">
                <a:latin typeface="Arial"/>
                <a:hlinkClick r:id="rId2"/>
              </a:rPr>
              <a:t>https://doi.org/10.2307/249008</a:t>
            </a:r>
            <a:endParaRPr lang="en-GB" sz="2700" b="0" strike="noStrike" spc="-1">
              <a:latin typeface="Arial"/>
            </a:endParaRPr>
          </a:p>
          <a:p>
            <a:r>
              <a:rPr lang="en-GB" sz="2700" b="0" strike="noStrike" spc="-1">
                <a:solidFill>
                  <a:srgbClr val="000000"/>
                </a:solidFill>
                <a:latin typeface="Times New Roman"/>
              </a:rPr>
              <a:t>DeLone, W. H., &amp; McLean, E. R. (2003). The DeLone and McLean model of information systems success: A ten-year update. Journal of Management Information Systems, 19(4), 9-30. </a:t>
            </a:r>
            <a:r>
              <a:rPr lang="en-GB" sz="2700" b="0" strike="noStrike" spc="-1">
                <a:latin typeface="Arial"/>
                <a:hlinkClick r:id="rId3"/>
              </a:rPr>
              <a:t>https://doi.org/10.1080/07421222.2003.11045748</a:t>
            </a:r>
            <a:endParaRPr lang="en-GB" sz="2700" b="0" strike="noStrike" spc="-1">
              <a:latin typeface="Arial"/>
            </a:endParaRPr>
          </a:p>
          <a:p>
            <a:r>
              <a:rPr lang="en-GB" sz="2700" b="0" strike="noStrike" spc="-1">
                <a:solidFill>
                  <a:srgbClr val="000000"/>
                </a:solidFill>
                <a:latin typeface="Times New Roman"/>
              </a:rPr>
              <a:t>European Union. (2016). General Data Protection Regulation (GDPR). Official Journal of the European Union, L119, 1-88.</a:t>
            </a:r>
            <a:endParaRPr lang="en-GB" sz="27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TotalTime>
  <Words>4907</Words>
  <Application>Microsoft Office PowerPoint</Application>
  <PresentationFormat>Custom</PresentationFormat>
  <Paragraphs>407</Paragraphs>
  <Slides>89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89</vt:i4>
      </vt:variant>
    </vt:vector>
  </HeadingPairs>
  <TitlesOfParts>
    <vt:vector size="94" baseType="lpstr">
      <vt:lpstr>Arial</vt:lpstr>
      <vt:lpstr>Symbol</vt:lpstr>
      <vt:lpstr>Times New Roman</vt:lpstr>
      <vt:lpstr>Wingdings</vt:lpstr>
      <vt:lpstr>Office Theme</vt:lpstr>
      <vt:lpstr>BIOMETRIC CLASS ATTENDANCE AND TRACKING SYSTEM (BCATS)</vt:lpstr>
      <vt:lpstr>PowerPoint Presentation</vt:lpstr>
      <vt:lpstr>PowerPoint Presentation</vt:lpstr>
      <vt:lpstr>ACKNOWLEDGEMENTS</vt:lpstr>
      <vt:lpstr>ABSTRACT</vt:lpstr>
      <vt:lpstr>Cont..</vt:lpstr>
      <vt:lpstr>Cont.</vt:lpstr>
      <vt:lpstr>Cont..</vt:lpstr>
      <vt:lpstr>Cont...</vt:lpstr>
      <vt:lpstr>Cont..</vt:lpstr>
      <vt:lpstr>CHAPTER 1: INTRODUCTION</vt:lpstr>
      <vt:lpstr>Cont..</vt:lpstr>
      <vt:lpstr>Cont..</vt:lpstr>
      <vt:lpstr>Cont..</vt:lpstr>
      <vt:lpstr>Cont..</vt:lpstr>
      <vt:lpstr>Cont..</vt:lpstr>
      <vt:lpstr>Cont..</vt:lpstr>
      <vt:lpstr>Cont..</vt:lpstr>
      <vt:lpstr>Main Objective and Specific Objectives</vt:lpstr>
      <vt:lpstr>Specific Objectives:</vt:lpstr>
      <vt:lpstr>Research/Project Questions</vt:lpstr>
      <vt:lpstr>Scope of the Study</vt:lpstr>
      <vt:lpstr>PowerPoint Presentation</vt:lpstr>
      <vt:lpstr>PowerPoint Presentation</vt:lpstr>
      <vt:lpstr>Significance of the Project</vt:lpstr>
      <vt:lpstr>Cont..</vt:lpstr>
      <vt:lpstr>Cont..</vt:lpstr>
      <vt:lpstr>CHAPTER 2: LITERATURE REVIEW</vt:lpstr>
      <vt:lpstr>Cont..</vt:lpstr>
      <vt:lpstr>Review of Related Literature</vt:lpstr>
      <vt:lpstr>Cont..</vt:lpstr>
      <vt:lpstr>Cont..</vt:lpstr>
      <vt:lpstr>Related IT Projects</vt:lpstr>
      <vt:lpstr>Cont..</vt:lpstr>
      <vt:lpstr>Cont..</vt:lpstr>
      <vt:lpstr>Cont..</vt:lpstr>
      <vt:lpstr>Theoretical Foundations</vt:lpstr>
      <vt:lpstr>PowerPoint Presentation</vt:lpstr>
      <vt:lpstr>Cont..</vt:lpstr>
      <vt:lpstr>SWOT Analysis of Current Solutions</vt:lpstr>
      <vt:lpstr>Cont..</vt:lpstr>
      <vt:lpstr>Cont..</vt:lpstr>
      <vt:lpstr>Cont..</vt:lpstr>
      <vt:lpstr>Summary and Research Gap</vt:lpstr>
      <vt:lpstr>Cont..</vt:lpstr>
      <vt:lpstr>Cont..</vt:lpstr>
      <vt:lpstr>Research Gap Addressed by This Project</vt:lpstr>
      <vt:lpstr>Cont..</vt:lpstr>
      <vt:lpstr>Cont..</vt:lpstr>
      <vt:lpstr>CHAPTER 3: RESEARCH METHODOLOGY</vt:lpstr>
      <vt:lpstr>Research Design</vt:lpstr>
      <vt:lpstr>PowerPoint Presentation</vt:lpstr>
      <vt:lpstr>Data Collection Methods</vt:lpstr>
      <vt:lpstr>PowerPoint Presentation</vt:lpstr>
      <vt:lpstr>PowerPoint Presentation</vt:lpstr>
      <vt:lpstr>Data Analysis Methods</vt:lpstr>
      <vt:lpstr>PowerPoint Presentation</vt:lpstr>
      <vt:lpstr>Software Development Methodology</vt:lpstr>
      <vt:lpstr>ERD</vt:lpstr>
      <vt:lpstr>CLASS DIGRAM</vt:lpstr>
      <vt:lpstr>PowerPoint Presentation</vt:lpstr>
      <vt:lpstr>REQUIREMENTS, ANALYSIS &amp; DESIGN</vt:lpstr>
      <vt:lpstr>PowerPoint Presentation</vt:lpstr>
      <vt:lpstr>PowerPoint Presentation</vt:lpstr>
      <vt:lpstr>PowerPoint Presentation</vt:lpstr>
      <vt:lpstr>PowerPoint Presentation</vt:lpstr>
      <vt:lpstr>IMPLEMENTATION &amp; TESTING</vt:lpstr>
      <vt:lpstr>PowerPoint Presentation</vt:lpstr>
      <vt:lpstr>PowerPoint Presentation</vt:lpstr>
      <vt:lpstr>PowerPoint Presentation</vt:lpstr>
      <vt:lpstr>PowerPoint Presentation</vt:lpstr>
      <vt:lpstr>Implementation Challenges &amp; Solutions</vt:lpstr>
      <vt:lpstr>PowerPoint Presentation</vt:lpstr>
      <vt:lpstr>CHAPTER 6: DISCUSSION, CONCLUSION &amp; RECOMMENDATIONS</vt:lpstr>
      <vt:lpstr>6.2 Discussion of Findings</vt:lpstr>
      <vt:lpstr>PowerPoint Presentation</vt:lpstr>
      <vt:lpstr>PowerPoint Presentation</vt:lpstr>
      <vt:lpstr>PowerPoint Presentation</vt:lpstr>
      <vt:lpstr>PowerPoint Presentation</vt:lpstr>
      <vt:lpstr>PowerPoint Presentation</vt:lpstr>
      <vt:lpstr>Technical Performance Analysis</vt:lpstr>
      <vt:lpstr>PowerPoint Presentation</vt:lpstr>
      <vt:lpstr>PowerPoint Presentation</vt:lpstr>
      <vt:lpstr>Comparison with Existing Solutions</vt:lpstr>
      <vt:lpstr>Cont..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ELIA LIGHT</cp:lastModifiedBy>
  <cp:revision>2</cp:revision>
  <dcterms:created xsi:type="dcterms:W3CDTF">2025-12-08T10:50:28Z</dcterms:created>
  <dcterms:modified xsi:type="dcterms:W3CDTF">2025-12-08T13:10:31Z</dcterms:modified>
  <dc:language>en-GB</dc:language>
</cp:coreProperties>
</file>